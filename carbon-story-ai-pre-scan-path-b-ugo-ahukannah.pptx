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B, retrofit audit — say the path out loud in the first ten seconds so the marker and the room both know which one this is.
The artifact is my own bootcamp project, AI Pre-Scan: a company name in, an evidence-backed draft inventory of that company's AI systems out.
I am pitching this to a CTO, not a sustainability officer. That choice drives every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for a CTO, not a sustainability officer.
AI Pre-Scan takes a company name and returns an evidence-backed draft inventory of the AI systems that company appears to use.
The 3x figure is from the project's own LESSONS.md, written before this audit — I am not grading my own homework.
That 3x is a cost line, a latency line and a carbon line at once. Which is exactly why it is a CTO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unit of value is one completed scan.
Everything downstream is per-scan, so a change that makes one scan cheaper is the only thing this deck argues about.
If challenged on the boundary: it deliberately excludes human reading time and the compliance checker, because neither moves when I change the research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read from the code, not estimated: passes = 3, pages = 12, one gpt-4o call per fetched page, search 10 plus news 20 per pass.
Three passes times twelve pages is up to 36 page fetches for one company.
Validated passages are embedded into Pinecone with text-embedding-3-small — and store.query has no caller, so nothing reads them back. The vendor corpus namespace has no writer at all: storage allocated, never filled, never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centrepiece.
A retry re-issues identical queries rather than refining them, so it cannot find a better source — it can only pay again for the same one.
Findings are also replaced per pass rather than accumulated, so a finding evidenced on pass 1 can be lost and re-derived on pass 3.
The defect is documented in the repo before this audit. I did not discover it to fit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honest part plainly: neither vendor exposes per-call energy, so there is no SCI number in this deck and I am not going to invent one.
If a CTO asks 'why should we believe this' — call counts are read from the code, energy attribution is inferred, and I have told you which is which.
The unknown is the one I would fix first with telemetry: I do not know how often production actually reaches pass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exists so that no recommendation later is orphaned from a pillar.
Energy and carbon carry the two big ones. Hardware covers the write path nobody reads. Measurement is where I am weakest and I am saying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pushback: 'didn't you just remove page storage for GDPR?'
Yes — and this cache is in-scan only. It dies with the scan. Cover that here rather than waiting for the caveats slide.
This is the Cache static data pattern from the Green Software Patterns catalog, applied within a request rather than at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guardrail matters more than the saving.
A blind downgrade would be the greenwashing version of this recommendation. The eval harness already exists, so there is no excuse for not testing it.
Why a CTO cares: this is the single largest cost line per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Embodied carbon, not runtime.
An index costs hardware whether or not anything queries it — and here nothing does, because store.query has no caller.
Two separate defects: a write path with no reader, and a namespace with no writer. Both are capacity provisioned for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where green and correct coincide.
Accumulating findings fixes a recorded correctness bug and stops paying for work already done.
If you only take one recommendation from this deck, the line to remember is: the greenest version stops early, and stopping early is also the more accurate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proxies as proxies. Cost and latency correlate with energy; they are not energy.
The success criteria are stated before the change, so the result can falsify it.
Two weeks is enough to see duplicate query rate and pass usage. It is not enough to claim an energy saving, and I am not going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for time.
The rubric's top honesty band asks for uncertainty named and next steps given — and the privacy tradeoff is the sharpest thing on the slide.
If someone pushes on offsets: offsets would not change a single number in this deck. Reducing calls per R would. That is the only lever I am pulling.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prediction that cannot fail is not a prediction.
The revert condition is stated up front: recall outside existing run-to-run variance kills the triage change.
That variance band is not hypothetical — the project already knows single runs are not reproducible, which is why five eval runs were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C2410C"/>
          </a:solidFill>
          <a:ln/>
        </p:spPr>
      </p:sp>
      <p:sp>
        <p:nvSpPr>
          <p:cNvPr id="3" name="Text 1"/>
          <p:cNvSpPr/>
          <p:nvPr/>
        </p:nvSpPr>
        <p:spPr>
          <a:xfrm>
            <a:off x="658368" y="2057400"/>
            <a:ext cx="10872216" cy="256032"/>
          </a:xfrm>
          <a:prstGeom prst="rect">
            <a:avLst/>
          </a:prstGeom>
          <a:noFill/>
          <a:ln/>
        </p:spPr>
        <p:txBody>
          <a:bodyPr wrap="square" lIns="0" tIns="0" rIns="0" bIns="0" rtlCol="0" anchor="ctr"/>
          <a:lstStyle/>
          <a:p>
            <a:pPr indent="0" marL="0">
              <a:buNone/>
            </a:pPr>
            <a:r>
              <a:rPr lang="en-US" sz="1200" b="1" spc="240" kern="0" dirty="0">
                <a:solidFill>
                  <a:srgbClr val="5EEAD4"/>
                </a:solidFill>
                <a:latin typeface="Calibri" pitchFamily="34" charset="0"/>
                <a:ea typeface="Calibri" pitchFamily="34" charset="-122"/>
                <a:cs typeface="Calibri" pitchFamily="34" charset="-120"/>
              </a:rPr>
              <a:t>PATH B  ·  GREEN RETROFIT AUDIT</a:t>
            </a:r>
            <a:endParaRPr lang="en-US" sz="1200" dirty="0"/>
          </a:p>
        </p:txBody>
      </p:sp>
      <p:sp>
        <p:nvSpPr>
          <p:cNvPr id="4" name="Text 2"/>
          <p:cNvSpPr/>
          <p:nvPr/>
        </p:nvSpPr>
        <p:spPr>
          <a:xfrm>
            <a:off x="658368" y="2514600"/>
            <a:ext cx="9692640" cy="13716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Defend your stack's carbon story</a:t>
            </a:r>
            <a:endParaRPr lang="en-US" sz="5200" dirty="0"/>
          </a:p>
        </p:txBody>
      </p:sp>
      <p:sp>
        <p:nvSpPr>
          <p:cNvPr id="5" name="Text 3"/>
          <p:cNvSpPr/>
          <p:nvPr/>
        </p:nvSpPr>
        <p:spPr>
          <a:xfrm>
            <a:off x="658368" y="3968496"/>
            <a:ext cx="10872216" cy="365760"/>
          </a:xfrm>
          <a:prstGeom prst="rect">
            <a:avLst/>
          </a:prstGeom>
          <a:noFill/>
          <a:ln/>
        </p:spPr>
        <p:txBody>
          <a:bodyPr wrap="square" lIns="0" tIns="0" rIns="0" bIns="0" rtlCol="0" anchor="ctr"/>
          <a:lstStyle/>
          <a:p>
            <a:pPr indent="0" marL="0">
              <a:buNone/>
            </a:pPr>
            <a:r>
              <a:rPr lang="en-US" sz="2000" dirty="0">
                <a:solidFill>
                  <a:srgbClr val="94A3B8"/>
                </a:solidFill>
                <a:latin typeface="Calibri" pitchFamily="34" charset="0"/>
                <a:ea typeface="Calibri" pitchFamily="34" charset="-122"/>
                <a:cs typeface="Calibri" pitchFamily="34" charset="-120"/>
              </a:rPr>
              <a:t>A green retrofit audit of AI Pre-Scan</a:t>
            </a:r>
            <a:endParaRPr lang="en-US" sz="2000" dirty="0"/>
          </a:p>
        </p:txBody>
      </p:sp>
      <p:sp>
        <p:nvSpPr>
          <p:cNvPr id="6" name="Shape 4"/>
          <p:cNvSpPr/>
          <p:nvPr/>
        </p:nvSpPr>
        <p:spPr>
          <a:xfrm>
            <a:off x="658368" y="4617720"/>
            <a:ext cx="2011680" cy="0"/>
          </a:xfrm>
          <a:prstGeom prst="line">
            <a:avLst/>
          </a:prstGeom>
          <a:noFill/>
          <a:ln w="31750">
            <a:solidFill>
              <a:srgbClr val="C2410C"/>
            </a:solidFill>
            <a:prstDash val="solid"/>
          </a:ln>
        </p:spPr>
      </p:sp>
      <p:sp>
        <p:nvSpPr>
          <p:cNvPr id="7" name="Text 5"/>
          <p:cNvSpPr/>
          <p:nvPr/>
        </p:nvSpPr>
        <p:spPr>
          <a:xfrm>
            <a:off x="658368" y="4864608"/>
            <a:ext cx="10872216" cy="256032"/>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Ugo Ahukannah  ·  Ironhack AI Consulting, Week 7</a:t>
            </a:r>
            <a:endParaRPr lang="en-US" sz="1300" dirty="0"/>
          </a:p>
        </p:txBody>
      </p:sp>
      <p:sp>
        <p:nvSpPr>
          <p:cNvPr id="8" name="Text 6"/>
          <p:cNvSpPr/>
          <p:nvPr/>
        </p:nvSpPr>
        <p:spPr>
          <a:xfrm>
            <a:off x="658368" y="5175504"/>
            <a:ext cx="10872216" cy="256032"/>
          </a:xfrm>
          <a:prstGeom prst="rect">
            <a:avLst/>
          </a:prstGeom>
          <a:noFill/>
          <a:ln/>
        </p:spPr>
        <p:txBody>
          <a:bodyPr wrap="square" lIns="0" tIns="0" rIns="0" bIns="0" rtlCol="0" anchor="ctr"/>
          <a:lstStyle/>
          <a:p>
            <a:pPr indent="0" marL="0">
              <a:buNone/>
            </a:pPr>
            <a:r>
              <a:rPr lang="en-US" sz="1300" b="1" dirty="0">
                <a:solidFill>
                  <a:srgbClr val="5EEAD4"/>
                </a:solidFill>
                <a:latin typeface="Calibri" pitchFamily="34" charset="0"/>
                <a:ea typeface="Calibri" pitchFamily="34" charset="-122"/>
                <a:cs typeface="Calibri" pitchFamily="34" charset="-120"/>
              </a:rPr>
              <a:t>Audience: a skeptical CTO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THE ARGUMENT</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The cheapest compute is the call you don't repeat</a:t>
            </a:r>
            <a:endParaRPr lang="en-US" sz="3200" dirty="0"/>
          </a:p>
        </p:txBody>
      </p:sp>
      <p:sp>
        <p:nvSpPr>
          <p:cNvPr id="4" name="Shape 2"/>
          <p:cNvSpPr/>
          <p:nvPr/>
        </p:nvSpPr>
        <p:spPr>
          <a:xfrm>
            <a:off x="658368" y="2148840"/>
            <a:ext cx="5029200" cy="1965960"/>
          </a:xfrm>
          <a:prstGeom prst="roundRect">
            <a:avLst>
              <a:gd name="adj" fmla="val 3721"/>
            </a:avLst>
          </a:prstGeom>
          <a:solidFill>
            <a:srgbClr val="FFFFFF"/>
          </a:solidFill>
          <a:ln w="12700">
            <a:solidFill>
              <a:srgbClr val="FDBA74"/>
            </a:solidFill>
            <a:prstDash val="solid"/>
          </a:ln>
        </p:spPr>
      </p:sp>
      <p:sp>
        <p:nvSpPr>
          <p:cNvPr id="5" name="Text 3"/>
          <p:cNvSpPr/>
          <p:nvPr/>
        </p:nvSpPr>
        <p:spPr>
          <a:xfrm>
            <a:off x="932688" y="2377440"/>
            <a:ext cx="1828800" cy="822960"/>
          </a:xfrm>
          <a:prstGeom prst="rect">
            <a:avLst/>
          </a:prstGeom>
          <a:noFill/>
          <a:ln/>
        </p:spPr>
        <p:txBody>
          <a:bodyPr wrap="square" lIns="0" tIns="0" rIns="0" bIns="0" rtlCol="0" anchor="ctr"/>
          <a:lstStyle/>
          <a:p>
            <a:pPr indent="0" marL="0">
              <a:buNone/>
            </a:pPr>
            <a:r>
              <a:rPr lang="en-US" sz="6000" b="1" dirty="0">
                <a:solidFill>
                  <a:srgbClr val="C2410C"/>
                </a:solidFill>
                <a:latin typeface="Calibri" pitchFamily="34" charset="0"/>
                <a:ea typeface="Calibri" pitchFamily="34" charset="-122"/>
                <a:cs typeface="Calibri" pitchFamily="34" charset="-120"/>
              </a:rPr>
              <a:t>3×</a:t>
            </a:r>
            <a:endParaRPr lang="en-US" sz="6000" dirty="0"/>
          </a:p>
        </p:txBody>
      </p:sp>
      <p:sp>
        <p:nvSpPr>
          <p:cNvPr id="6" name="Text 4"/>
          <p:cNvSpPr/>
          <p:nvPr/>
        </p:nvSpPr>
        <p:spPr>
          <a:xfrm>
            <a:off x="2286000" y="2624328"/>
            <a:ext cx="3108960" cy="82296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the spend, for the same candidates</a:t>
            </a:r>
            <a:endParaRPr lang="en-US" sz="1500" dirty="0"/>
          </a:p>
        </p:txBody>
      </p:sp>
      <p:sp>
        <p:nvSpPr>
          <p:cNvPr id="7" name="Text 5"/>
          <p:cNvSpPr/>
          <p:nvPr/>
        </p:nvSpPr>
        <p:spPr>
          <a:xfrm>
            <a:off x="932688" y="3566160"/>
            <a:ext cx="4572000" cy="274320"/>
          </a:xfrm>
          <a:prstGeom prst="rect">
            <a:avLst/>
          </a:prstGeom>
          <a:noFill/>
          <a:ln/>
        </p:spPr>
        <p:txBody>
          <a:bodyPr wrap="square" lIns="0" tIns="0" rIns="0" bIns="0" rtlCol="0" anchor="ctr"/>
          <a:lstStyle/>
          <a:p>
            <a:pPr indent="0" marL="0">
              <a:buNone/>
            </a:pPr>
            <a:r>
              <a:rPr lang="en-US" sz="1050" i="1" dirty="0">
                <a:solidFill>
                  <a:srgbClr val="475569"/>
                </a:solidFill>
                <a:latin typeface="Calibri" pitchFamily="34" charset="0"/>
                <a:ea typeface="Calibri" pitchFamily="34" charset="-122"/>
                <a:cs typeface="Calibri" pitchFamily="34" charset="-120"/>
              </a:rPr>
              <a:t>Recorded in the project's own LESSONS.md — before this audit</a:t>
            </a:r>
            <a:endParaRPr lang="en-US" sz="1050" dirty="0"/>
          </a:p>
        </p:txBody>
      </p:sp>
      <p:sp>
        <p:nvSpPr>
          <p:cNvPr id="8" name="Shape 6"/>
          <p:cNvSpPr/>
          <p:nvPr/>
        </p:nvSpPr>
        <p:spPr>
          <a:xfrm>
            <a:off x="6035040" y="2203704"/>
            <a:ext cx="45720" cy="384048"/>
          </a:xfrm>
          <a:prstGeom prst="rect">
            <a:avLst/>
          </a:prstGeom>
          <a:solidFill>
            <a:srgbClr val="C2410C"/>
          </a:solidFill>
          <a:ln/>
        </p:spPr>
      </p:sp>
      <p:sp>
        <p:nvSpPr>
          <p:cNvPr id="9" name="Text 7"/>
          <p:cNvSpPr/>
          <p:nvPr/>
        </p:nvSpPr>
        <p:spPr>
          <a:xfrm>
            <a:off x="6263640" y="2148840"/>
            <a:ext cx="5120640" cy="50292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A company name in, an evidence-backed AI inventory out.</a:t>
            </a:r>
            <a:endParaRPr lang="en-US" sz="1500" dirty="0"/>
          </a:p>
        </p:txBody>
      </p:sp>
      <p:sp>
        <p:nvSpPr>
          <p:cNvPr id="10" name="Shape 8"/>
          <p:cNvSpPr/>
          <p:nvPr/>
        </p:nvSpPr>
        <p:spPr>
          <a:xfrm>
            <a:off x="6035040" y="2916936"/>
            <a:ext cx="45720" cy="384048"/>
          </a:xfrm>
          <a:prstGeom prst="rect">
            <a:avLst/>
          </a:prstGeom>
          <a:solidFill>
            <a:srgbClr val="C2410C"/>
          </a:solidFill>
          <a:ln/>
        </p:spPr>
      </p:sp>
      <p:sp>
        <p:nvSpPr>
          <p:cNvPr id="11" name="Text 9"/>
          <p:cNvSpPr/>
          <p:nvPr/>
        </p:nvSpPr>
        <p:spPr>
          <a:xfrm>
            <a:off x="6263640" y="2862072"/>
            <a:ext cx="5120640" cy="50292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The research loop re-runs identical queries instead of refining them.</a:t>
            </a:r>
            <a:endParaRPr lang="en-US" sz="1500" dirty="0"/>
          </a:p>
        </p:txBody>
      </p:sp>
      <p:sp>
        <p:nvSpPr>
          <p:cNvPr id="12" name="Shape 10"/>
          <p:cNvSpPr/>
          <p:nvPr/>
        </p:nvSpPr>
        <p:spPr>
          <a:xfrm>
            <a:off x="6035040" y="3630168"/>
            <a:ext cx="45720" cy="384048"/>
          </a:xfrm>
          <a:prstGeom prst="rect">
            <a:avLst/>
          </a:prstGeom>
          <a:solidFill>
            <a:srgbClr val="C2410C"/>
          </a:solidFill>
          <a:ln/>
        </p:spPr>
      </p:sp>
      <p:sp>
        <p:nvSpPr>
          <p:cNvPr id="13" name="Text 11"/>
          <p:cNvSpPr/>
          <p:nvPr/>
        </p:nvSpPr>
        <p:spPr>
          <a:xfrm>
            <a:off x="6263640" y="3575304"/>
            <a:ext cx="5120640" cy="502920"/>
          </a:xfrm>
          <a:prstGeom prst="rect">
            <a:avLst/>
          </a:prstGeom>
          <a:noFill/>
          <a:ln/>
        </p:spPr>
        <p:txBody>
          <a:bodyPr wrap="square" lIns="0" tIns="0" rIns="0" bIns="0" rtlCol="0" anchor="ctr"/>
          <a:lstStyle/>
          <a:p>
            <a:pPr indent="0" marL="0">
              <a:buNone/>
            </a:pPr>
            <a:r>
              <a:rPr lang="en-US" sz="1500" dirty="0">
                <a:solidFill>
                  <a:srgbClr val="0F172A"/>
                </a:solidFill>
                <a:latin typeface="Calibri" pitchFamily="34" charset="0"/>
                <a:ea typeface="Calibri" pitchFamily="34" charset="-122"/>
                <a:cs typeface="Calibri" pitchFamily="34" charset="-120"/>
              </a:rPr>
              <a:t>Cost, latency and carbon are one line, not three.</a:t>
            </a:r>
            <a:endParaRPr lang="en-US" sz="1500" dirty="0"/>
          </a:p>
        </p:txBody>
      </p:sp>
      <p:sp>
        <p:nvSpPr>
          <p:cNvPr id="14" name="Shape 12"/>
          <p:cNvSpPr/>
          <p:nvPr/>
        </p:nvSpPr>
        <p:spPr>
          <a:xfrm>
            <a:off x="658368" y="4617720"/>
            <a:ext cx="10872216" cy="731520"/>
          </a:xfrm>
          <a:prstGeom prst="roundRect">
            <a:avLst>
              <a:gd name="adj" fmla="val 10000"/>
            </a:avLst>
          </a:prstGeom>
          <a:solidFill>
            <a:srgbClr val="0F172A"/>
          </a:solidFill>
          <a:ln w="12700">
            <a:solidFill>
              <a:srgbClr val="0F172A"/>
            </a:solidFill>
            <a:prstDash val="solid"/>
          </a:ln>
        </p:spPr>
      </p:sp>
      <p:sp>
        <p:nvSpPr>
          <p:cNvPr id="15" name="Text 13"/>
          <p:cNvSpPr/>
          <p:nvPr/>
        </p:nvSpPr>
        <p:spPr>
          <a:xfrm>
            <a:off x="932688" y="4617720"/>
            <a:ext cx="10323576" cy="7315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Every number here is read from the repository or the evaluation.  </a:t>
            </a:r>
            <a:pPr indent="0" marL="0">
              <a:buNone/>
            </a:pPr>
            <a:r>
              <a:rPr lang="en-US" sz="1400" dirty="0">
                <a:solidFill>
                  <a:srgbClr val="5EEAD4"/>
                </a:solidFill>
                <a:latin typeface="Calibri" pitchFamily="34" charset="0"/>
                <a:ea typeface="Calibri" pitchFamily="34" charset="-122"/>
                <a:cs typeface="Calibri" pitchFamily="34" charset="-120"/>
              </a:rPr>
              <a:t>Where I am guessing, the slide says so.</a:t>
            </a:r>
            <a:endParaRPr lang="en-US" sz="1400" dirty="0"/>
          </a:p>
        </p:txBody>
      </p:sp>
      <p:sp>
        <p:nvSpPr>
          <p:cNvPr id="16" name="Text 14"/>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7" name="Text 15"/>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THE UNIT</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R = one completed pre-scan of one company</a:t>
            </a:r>
            <a:endParaRPr lang="en-US" sz="3200" dirty="0"/>
          </a:p>
        </p:txBody>
      </p:sp>
      <p:sp>
        <p:nvSpPr>
          <p:cNvPr id="4" name="Shape 2"/>
          <p:cNvSpPr/>
          <p:nvPr/>
        </p:nvSpPr>
        <p:spPr>
          <a:xfrm>
            <a:off x="658368" y="2011680"/>
            <a:ext cx="10872216" cy="1371600"/>
          </a:xfrm>
          <a:prstGeom prst="roundRect">
            <a:avLst>
              <a:gd name="adj" fmla="val 5333"/>
            </a:avLst>
          </a:prstGeom>
          <a:solidFill>
            <a:srgbClr val="FFFFFF"/>
          </a:solidFill>
          <a:ln w="12700">
            <a:solidFill>
              <a:srgbClr val="E2E8F0"/>
            </a:solidFill>
            <a:prstDash val="solid"/>
          </a:ln>
        </p:spPr>
      </p:sp>
      <p:sp>
        <p:nvSpPr>
          <p:cNvPr id="5" name="Text 3"/>
          <p:cNvSpPr/>
          <p:nvPr/>
        </p:nvSpPr>
        <p:spPr>
          <a:xfrm>
            <a:off x="1024128" y="2240280"/>
            <a:ext cx="10140696"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A company name in.  </a:t>
            </a:r>
            <a:pPr indent="0" marL="0">
              <a:buNone/>
            </a:pPr>
            <a:r>
              <a:rPr lang="en-US" sz="1700" dirty="0">
                <a:solidFill>
                  <a:srgbClr val="475569"/>
                </a:solidFill>
                <a:latin typeface="Calibri" pitchFamily="34" charset="0"/>
                <a:ea typeface="Calibri" pitchFamily="34" charset="-122"/>
                <a:cs typeface="Calibri" pitchFamily="34" charset="-120"/>
              </a:rPr>
              <a:t>An evidence-backed inventory and a discussion list out.</a:t>
            </a:r>
            <a:endParaRPr lang="en-US" sz="1700" dirty="0"/>
          </a:p>
        </p:txBody>
      </p:sp>
      <p:sp>
        <p:nvSpPr>
          <p:cNvPr id="6" name="Text 4"/>
          <p:cNvSpPr/>
          <p:nvPr/>
        </p:nvSpPr>
        <p:spPr>
          <a:xfrm>
            <a:off x="1024128" y="2697480"/>
            <a:ext cx="10140696" cy="320040"/>
          </a:xfrm>
          <a:prstGeom prst="rect">
            <a:avLst/>
          </a:prstGeom>
          <a:noFill/>
          <a:ln/>
        </p:spPr>
        <p:txBody>
          <a:bodyPr wrap="square" lIns="0" tIns="0" rIns="0" bIns="0" rtlCol="0" anchor="ctr"/>
          <a:lstStyle/>
          <a:p>
            <a:pPr indent="0" marL="0">
              <a:buNone/>
            </a:pPr>
            <a:r>
              <a:rPr lang="en-US" sz="1350" dirty="0">
                <a:solidFill>
                  <a:srgbClr val="475569"/>
                </a:solidFill>
                <a:latin typeface="Calibri" pitchFamily="34" charset="0"/>
                <a:ea typeface="Calibri" pitchFamily="34" charset="-122"/>
                <a:cs typeface="Calibri" pitchFamily="34" charset="-120"/>
              </a:rPr>
              <a:t>Everything that follows is measured per R.</a:t>
            </a:r>
            <a:endParaRPr lang="en-US" sz="1350" dirty="0"/>
          </a:p>
        </p:txBody>
      </p:sp>
      <p:sp>
        <p:nvSpPr>
          <p:cNvPr id="7" name="Shape 5"/>
          <p:cNvSpPr/>
          <p:nvPr/>
        </p:nvSpPr>
        <p:spPr>
          <a:xfrm>
            <a:off x="1024128" y="2971800"/>
            <a:ext cx="1920240" cy="274320"/>
          </a:xfrm>
          <a:prstGeom prst="roundRect">
            <a:avLst>
              <a:gd name="adj" fmla="val 46667"/>
            </a:avLst>
          </a:prstGeom>
          <a:solidFill>
            <a:srgbClr val="F0FDFA"/>
          </a:solidFill>
          <a:ln w="12700">
            <a:solidFill>
              <a:srgbClr val="5EEAD4"/>
            </a:solidFill>
            <a:prstDash val="solid"/>
          </a:ln>
        </p:spPr>
      </p:sp>
      <p:sp>
        <p:nvSpPr>
          <p:cNvPr id="8" name="Text 6"/>
          <p:cNvSpPr/>
          <p:nvPr/>
        </p:nvSpPr>
        <p:spPr>
          <a:xfrm>
            <a:off x="1133856" y="2971800"/>
            <a:ext cx="1700784"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calls per R</a:t>
            </a:r>
            <a:endParaRPr lang="en-US" sz="950" dirty="0"/>
          </a:p>
        </p:txBody>
      </p:sp>
      <p:sp>
        <p:nvSpPr>
          <p:cNvPr id="9" name="Shape 7"/>
          <p:cNvSpPr/>
          <p:nvPr/>
        </p:nvSpPr>
        <p:spPr>
          <a:xfrm>
            <a:off x="3172968" y="2971800"/>
            <a:ext cx="1920240" cy="274320"/>
          </a:xfrm>
          <a:prstGeom prst="roundRect">
            <a:avLst>
              <a:gd name="adj" fmla="val 46667"/>
            </a:avLst>
          </a:prstGeom>
          <a:solidFill>
            <a:srgbClr val="F0FDFA"/>
          </a:solidFill>
          <a:ln w="12700">
            <a:solidFill>
              <a:srgbClr val="5EEAD4"/>
            </a:solidFill>
            <a:prstDash val="solid"/>
          </a:ln>
        </p:spPr>
      </p:sp>
      <p:sp>
        <p:nvSpPr>
          <p:cNvPr id="10" name="Text 8"/>
          <p:cNvSpPr/>
          <p:nvPr/>
        </p:nvSpPr>
        <p:spPr>
          <a:xfrm>
            <a:off x="3282696" y="2971800"/>
            <a:ext cx="1700784"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tokens per R</a:t>
            </a:r>
            <a:endParaRPr lang="en-US" sz="950" dirty="0"/>
          </a:p>
        </p:txBody>
      </p:sp>
      <p:sp>
        <p:nvSpPr>
          <p:cNvPr id="11" name="Shape 9"/>
          <p:cNvSpPr/>
          <p:nvPr/>
        </p:nvSpPr>
        <p:spPr>
          <a:xfrm>
            <a:off x="5321808" y="2971800"/>
            <a:ext cx="1920240" cy="274320"/>
          </a:xfrm>
          <a:prstGeom prst="roundRect">
            <a:avLst>
              <a:gd name="adj" fmla="val 46667"/>
            </a:avLst>
          </a:prstGeom>
          <a:solidFill>
            <a:srgbClr val="F0FDFA"/>
          </a:solidFill>
          <a:ln w="12700">
            <a:solidFill>
              <a:srgbClr val="5EEAD4"/>
            </a:solidFill>
            <a:prstDash val="solid"/>
          </a:ln>
        </p:spPr>
      </p:sp>
      <p:sp>
        <p:nvSpPr>
          <p:cNvPr id="12" name="Text 10"/>
          <p:cNvSpPr/>
          <p:nvPr/>
        </p:nvSpPr>
        <p:spPr>
          <a:xfrm>
            <a:off x="5431536" y="2971800"/>
            <a:ext cx="1700784"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cost per R</a:t>
            </a:r>
            <a:endParaRPr lang="en-US" sz="950" dirty="0"/>
          </a:p>
        </p:txBody>
      </p:sp>
      <p:sp>
        <p:nvSpPr>
          <p:cNvPr id="13" name="Shape 11"/>
          <p:cNvSpPr/>
          <p:nvPr/>
        </p:nvSpPr>
        <p:spPr>
          <a:xfrm>
            <a:off x="7470648" y="2971800"/>
            <a:ext cx="1920240" cy="274320"/>
          </a:xfrm>
          <a:prstGeom prst="roundRect">
            <a:avLst>
              <a:gd name="adj" fmla="val 46667"/>
            </a:avLst>
          </a:prstGeom>
          <a:solidFill>
            <a:srgbClr val="F0FDFA"/>
          </a:solidFill>
          <a:ln w="12700">
            <a:solidFill>
              <a:srgbClr val="5EEAD4"/>
            </a:solidFill>
            <a:prstDash val="solid"/>
          </a:ln>
        </p:spPr>
      </p:sp>
      <p:sp>
        <p:nvSpPr>
          <p:cNvPr id="14" name="Text 12"/>
          <p:cNvSpPr/>
          <p:nvPr/>
        </p:nvSpPr>
        <p:spPr>
          <a:xfrm>
            <a:off x="7580376" y="2971800"/>
            <a:ext cx="1700784"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seconds per R</a:t>
            </a:r>
            <a:endParaRPr lang="en-US" sz="950" dirty="0"/>
          </a:p>
        </p:txBody>
      </p:sp>
      <p:sp>
        <p:nvSpPr>
          <p:cNvPr id="15" name="Shape 13"/>
          <p:cNvSpPr/>
          <p:nvPr/>
        </p:nvSpPr>
        <p:spPr>
          <a:xfrm>
            <a:off x="658368" y="3703320"/>
            <a:ext cx="10872216" cy="1234440"/>
          </a:xfrm>
          <a:prstGeom prst="roundRect">
            <a:avLst>
              <a:gd name="adj" fmla="val 5926"/>
            </a:avLst>
          </a:prstGeom>
          <a:solidFill>
            <a:srgbClr val="FFF7ED"/>
          </a:solidFill>
          <a:ln w="12700">
            <a:solidFill>
              <a:srgbClr val="FDBA74"/>
            </a:solidFill>
            <a:prstDash val="solid"/>
          </a:ln>
        </p:spPr>
      </p:sp>
      <p:sp>
        <p:nvSpPr>
          <p:cNvPr id="16" name="Text 14"/>
          <p:cNvSpPr/>
          <p:nvPr/>
        </p:nvSpPr>
        <p:spPr>
          <a:xfrm>
            <a:off x="1024128" y="3886200"/>
            <a:ext cx="1828800" cy="219456"/>
          </a:xfrm>
          <a:prstGeom prst="rect">
            <a:avLst/>
          </a:prstGeom>
          <a:noFill/>
          <a:ln/>
        </p:spPr>
        <p:txBody>
          <a:bodyPr wrap="square" lIns="0" tIns="0" rIns="0" bIns="0" rtlCol="0" anchor="ctr"/>
          <a:lstStyle/>
          <a:p>
            <a:pPr indent="0" marL="0">
              <a:buNone/>
            </a:pPr>
            <a:r>
              <a:rPr lang="en-US" sz="1000" b="1" spc="140" kern="0" dirty="0">
                <a:solidFill>
                  <a:srgbClr val="C2410C"/>
                </a:solidFill>
                <a:latin typeface="Calibri" pitchFamily="34" charset="0"/>
                <a:ea typeface="Calibri" pitchFamily="34" charset="-122"/>
                <a:cs typeface="Calibri" pitchFamily="34" charset="-120"/>
              </a:rPr>
              <a:t>BOUNDARY</a:t>
            </a:r>
            <a:endParaRPr lang="en-US" sz="1000" dirty="0"/>
          </a:p>
        </p:txBody>
      </p:sp>
      <p:sp>
        <p:nvSpPr>
          <p:cNvPr id="17" name="Text 15"/>
          <p:cNvSpPr/>
          <p:nvPr/>
        </p:nvSpPr>
        <p:spPr>
          <a:xfrm>
            <a:off x="1024128" y="4151376"/>
            <a:ext cx="10140696" cy="29260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From the operator pressing scan, to the report rendering.</a:t>
            </a:r>
            <a:endParaRPr lang="en-US" sz="1500" dirty="0"/>
          </a:p>
        </p:txBody>
      </p:sp>
      <p:sp>
        <p:nvSpPr>
          <p:cNvPr id="18" name="Text 16"/>
          <p:cNvSpPr/>
          <p:nvPr/>
        </p:nvSpPr>
        <p:spPr>
          <a:xfrm>
            <a:off x="1024128" y="4462272"/>
            <a:ext cx="10140696" cy="292608"/>
          </a:xfrm>
          <a:prstGeom prst="rect">
            <a:avLst/>
          </a:prstGeom>
          <a:noFill/>
          <a:ln/>
        </p:spPr>
        <p:txBody>
          <a:bodyPr wrap="square" lIns="0" tIns="0" rIns="0" bIns="0" rtlCol="0" anchor="ctr"/>
          <a:lstStyle/>
          <a:p>
            <a:pPr indent="0" marL="0">
              <a:buNone/>
            </a:pPr>
            <a:r>
              <a:rPr lang="en-US" sz="1350" dirty="0">
                <a:solidFill>
                  <a:srgbClr val="475569"/>
                </a:solidFill>
                <a:latin typeface="Calibri" pitchFamily="34" charset="0"/>
                <a:ea typeface="Calibri" pitchFamily="34" charset="-122"/>
                <a:cs typeface="Calibri" pitchFamily="34" charset="-120"/>
              </a:rPr>
              <a:t>Excludes the adviser's reading time and the downstream compliance checker.</a:t>
            </a:r>
            <a:endParaRPr lang="en-US" sz="1350" dirty="0"/>
          </a:p>
        </p:txBody>
      </p:sp>
      <p:sp>
        <p:nvSpPr>
          <p:cNvPr id="19" name="Text 17"/>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20" name="Text 18"/>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MEASURED FROM THE CODE, NOT ESTIMATED</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Hotspots: three passes, twelve pages, one large model</a:t>
            </a:r>
            <a:endParaRPr lang="en-US" sz="3200" dirty="0"/>
          </a:p>
        </p:txBody>
      </p:sp>
      <p:sp>
        <p:nvSpPr>
          <p:cNvPr id="4" name="Shape 2"/>
          <p:cNvSpPr/>
          <p:nvPr/>
        </p:nvSpPr>
        <p:spPr>
          <a:xfrm>
            <a:off x="658368" y="2011680"/>
            <a:ext cx="3453384" cy="1417320"/>
          </a:xfrm>
          <a:prstGeom prst="roundRect">
            <a:avLst>
              <a:gd name="adj" fmla="val 5161"/>
            </a:avLst>
          </a:prstGeom>
          <a:solidFill>
            <a:srgbClr val="FFFFFF"/>
          </a:solidFill>
          <a:ln w="12700">
            <a:solidFill>
              <a:srgbClr val="E2E8F0"/>
            </a:solidFill>
            <a:prstDash val="solid"/>
          </a:ln>
        </p:spPr>
      </p:sp>
      <p:sp>
        <p:nvSpPr>
          <p:cNvPr id="5" name="Text 3"/>
          <p:cNvSpPr/>
          <p:nvPr/>
        </p:nvSpPr>
        <p:spPr>
          <a:xfrm>
            <a:off x="877824" y="2176272"/>
            <a:ext cx="3014472" cy="566928"/>
          </a:xfrm>
          <a:prstGeom prst="rect">
            <a:avLst/>
          </a:prstGeom>
          <a:noFill/>
          <a:ln/>
        </p:spPr>
        <p:txBody>
          <a:bodyPr wrap="square" lIns="0" tIns="0" rIns="0" bIns="0" rtlCol="0" anchor="ctr"/>
          <a:lstStyle/>
          <a:p>
            <a:pPr indent="0" marL="0">
              <a:buNone/>
            </a:pPr>
            <a:r>
              <a:rPr lang="en-US" sz="3800" b="1" dirty="0">
                <a:solidFill>
                  <a:srgbClr val="C2410C"/>
                </a:solidFill>
                <a:latin typeface="Calibri" pitchFamily="34" charset="0"/>
                <a:ea typeface="Calibri" pitchFamily="34" charset="-122"/>
                <a:cs typeface="Calibri" pitchFamily="34" charset="-120"/>
              </a:rPr>
              <a:t>36</a:t>
            </a:r>
            <a:endParaRPr lang="en-US" sz="3800" dirty="0"/>
          </a:p>
        </p:txBody>
      </p:sp>
      <p:sp>
        <p:nvSpPr>
          <p:cNvPr id="6" name="Text 4"/>
          <p:cNvSpPr/>
          <p:nvPr/>
        </p:nvSpPr>
        <p:spPr>
          <a:xfrm>
            <a:off x="877824" y="2798064"/>
            <a:ext cx="3014472" cy="5029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page fetches per scan</a:t>
            </a:r>
            <a:endParaRPr lang="en-US" sz="1250" dirty="0"/>
          </a:p>
          <a:p>
            <a:pPr indent="0" marL="0">
              <a:buNone/>
            </a:pPr>
            <a:r>
              <a:rPr lang="en-US" sz="1250" dirty="0">
                <a:solidFill>
                  <a:srgbClr val="475569"/>
                </a:solidFill>
                <a:latin typeface="Calibri" pitchFamily="34" charset="0"/>
                <a:ea typeface="Calibri" pitchFamily="34" charset="-122"/>
                <a:cs typeface="Calibri" pitchFamily="34" charset="-120"/>
              </a:rPr>
              <a:t>3 passes × 12 pages</a:t>
            </a:r>
            <a:endParaRPr lang="en-US" sz="1250" dirty="0"/>
          </a:p>
        </p:txBody>
      </p:sp>
      <p:sp>
        <p:nvSpPr>
          <p:cNvPr id="7" name="Shape 5"/>
          <p:cNvSpPr/>
          <p:nvPr/>
        </p:nvSpPr>
        <p:spPr>
          <a:xfrm>
            <a:off x="4367784" y="2011680"/>
            <a:ext cx="3453384" cy="1417320"/>
          </a:xfrm>
          <a:prstGeom prst="roundRect">
            <a:avLst>
              <a:gd name="adj" fmla="val 5161"/>
            </a:avLst>
          </a:prstGeom>
          <a:solidFill>
            <a:srgbClr val="FFFFFF"/>
          </a:solidFill>
          <a:ln w="12700">
            <a:solidFill>
              <a:srgbClr val="E2E8F0"/>
            </a:solidFill>
            <a:prstDash val="solid"/>
          </a:ln>
        </p:spPr>
      </p:sp>
      <p:sp>
        <p:nvSpPr>
          <p:cNvPr id="8" name="Text 6"/>
          <p:cNvSpPr/>
          <p:nvPr/>
        </p:nvSpPr>
        <p:spPr>
          <a:xfrm>
            <a:off x="4587240" y="2176272"/>
            <a:ext cx="3014472" cy="566928"/>
          </a:xfrm>
          <a:prstGeom prst="rect">
            <a:avLst/>
          </a:prstGeom>
          <a:noFill/>
          <a:ln/>
        </p:spPr>
        <p:txBody>
          <a:bodyPr wrap="square" lIns="0" tIns="0" rIns="0" bIns="0" rtlCol="0" anchor="ctr"/>
          <a:lstStyle/>
          <a:p>
            <a:pPr indent="0" marL="0">
              <a:buNone/>
            </a:pPr>
            <a:r>
              <a:rPr lang="en-US" sz="3800" b="1" dirty="0">
                <a:solidFill>
                  <a:srgbClr val="C2410C"/>
                </a:solidFill>
                <a:latin typeface="Calibri" pitchFamily="34" charset="0"/>
                <a:ea typeface="Calibri" pitchFamily="34" charset="-122"/>
                <a:cs typeface="Calibri" pitchFamily="34" charset="-120"/>
              </a:rPr>
              <a:t>90</a:t>
            </a:r>
            <a:endParaRPr lang="en-US" sz="3800" dirty="0"/>
          </a:p>
        </p:txBody>
      </p:sp>
      <p:sp>
        <p:nvSpPr>
          <p:cNvPr id="9" name="Text 7"/>
          <p:cNvSpPr/>
          <p:nvPr/>
        </p:nvSpPr>
        <p:spPr>
          <a:xfrm>
            <a:off x="4587240" y="2798064"/>
            <a:ext cx="3014472" cy="5029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result sets per scan</a:t>
            </a:r>
            <a:endParaRPr lang="en-US" sz="1250" dirty="0"/>
          </a:p>
          <a:p>
            <a:pPr indent="0" marL="0">
              <a:buNone/>
            </a:pPr>
            <a:r>
              <a:rPr lang="en-US" sz="1250" dirty="0">
                <a:solidFill>
                  <a:srgbClr val="475569"/>
                </a:solidFill>
                <a:latin typeface="Calibri" pitchFamily="34" charset="0"/>
                <a:ea typeface="Calibri" pitchFamily="34" charset="-122"/>
                <a:cs typeface="Calibri" pitchFamily="34" charset="-120"/>
              </a:rPr>
              <a:t>10 web + 20 news, ×3</a:t>
            </a:r>
            <a:endParaRPr lang="en-US" sz="1250" dirty="0"/>
          </a:p>
        </p:txBody>
      </p:sp>
      <p:sp>
        <p:nvSpPr>
          <p:cNvPr id="10" name="Shape 8"/>
          <p:cNvSpPr/>
          <p:nvPr/>
        </p:nvSpPr>
        <p:spPr>
          <a:xfrm>
            <a:off x="8077200" y="2011680"/>
            <a:ext cx="3453384" cy="1417320"/>
          </a:xfrm>
          <a:prstGeom prst="roundRect">
            <a:avLst>
              <a:gd name="adj" fmla="val 5161"/>
            </a:avLst>
          </a:prstGeom>
          <a:solidFill>
            <a:srgbClr val="FFFFFF"/>
          </a:solidFill>
          <a:ln w="12700">
            <a:solidFill>
              <a:srgbClr val="E2E8F0"/>
            </a:solidFill>
            <a:prstDash val="solid"/>
          </a:ln>
        </p:spPr>
      </p:sp>
      <p:sp>
        <p:nvSpPr>
          <p:cNvPr id="11" name="Text 9"/>
          <p:cNvSpPr/>
          <p:nvPr/>
        </p:nvSpPr>
        <p:spPr>
          <a:xfrm>
            <a:off x="8296656" y="2176272"/>
            <a:ext cx="3014472" cy="566928"/>
          </a:xfrm>
          <a:prstGeom prst="rect">
            <a:avLst/>
          </a:prstGeom>
          <a:noFill/>
          <a:ln/>
        </p:spPr>
        <p:txBody>
          <a:bodyPr wrap="square" lIns="0" tIns="0" rIns="0" bIns="0" rtlCol="0" anchor="ctr"/>
          <a:lstStyle/>
          <a:p>
            <a:pPr indent="0" marL="0">
              <a:buNone/>
            </a:pPr>
            <a:r>
              <a:rPr lang="en-US" sz="3800" b="1" dirty="0">
                <a:solidFill>
                  <a:srgbClr val="C2410C"/>
                </a:solidFill>
                <a:latin typeface="Calibri" pitchFamily="34" charset="0"/>
                <a:ea typeface="Calibri" pitchFamily="34" charset="-122"/>
                <a:cs typeface="Calibri" pitchFamily="34" charset="-120"/>
              </a:rPr>
              <a:t>0</a:t>
            </a:r>
            <a:endParaRPr lang="en-US" sz="3800" dirty="0"/>
          </a:p>
        </p:txBody>
      </p:sp>
      <p:sp>
        <p:nvSpPr>
          <p:cNvPr id="12" name="Text 10"/>
          <p:cNvSpPr/>
          <p:nvPr/>
        </p:nvSpPr>
        <p:spPr>
          <a:xfrm>
            <a:off x="8296656" y="2798064"/>
            <a:ext cx="3014472" cy="5029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readers for every</a:t>
            </a:r>
            <a:endParaRPr lang="en-US" sz="1250" dirty="0"/>
          </a:p>
          <a:p>
            <a:pPr indent="0" marL="0">
              <a:buNone/>
            </a:pPr>
            <a:r>
              <a:rPr lang="en-US" sz="1250" dirty="0">
                <a:solidFill>
                  <a:srgbClr val="475569"/>
                </a:solidFill>
                <a:latin typeface="Calibri" pitchFamily="34" charset="0"/>
                <a:ea typeface="Calibri" pitchFamily="34" charset="-122"/>
                <a:cs typeface="Calibri" pitchFamily="34" charset="-120"/>
              </a:rPr>
              <a:t>embedding written</a:t>
            </a:r>
            <a:endParaRPr lang="en-US" sz="1250" dirty="0"/>
          </a:p>
        </p:txBody>
      </p:sp>
      <p:sp>
        <p:nvSpPr>
          <p:cNvPr id="13" name="Text 11"/>
          <p:cNvSpPr/>
          <p:nvPr/>
        </p:nvSpPr>
        <p:spPr>
          <a:xfrm>
            <a:off x="658368" y="3611880"/>
            <a:ext cx="10872216" cy="292608"/>
          </a:xfrm>
          <a:prstGeom prst="rect">
            <a:avLst/>
          </a:prstGeom>
          <a:noFill/>
          <a:ln/>
        </p:spPr>
        <p:txBody>
          <a:bodyPr wrap="square" lIns="0" tIns="0" rIns="0" bIns="0" rtlCol="0" anchor="ctr"/>
          <a:lstStyle/>
          <a:p>
            <a:pPr indent="0" marL="0">
              <a:buNone/>
            </a:pPr>
            <a:r>
              <a:rPr lang="en-US" sz="1200" dirty="0">
                <a:solidFill>
                  <a:srgbClr val="475569"/>
                </a:solidFill>
                <a:latin typeface="Courier New" pitchFamily="34" charset="0"/>
                <a:ea typeface="Courier New" pitchFamily="34" charset="-122"/>
                <a:cs typeface="Courier New" pitchFamily="34" charset="-120"/>
              </a:rPr>
              <a:t>MAX_RESEARCH_PASSES = 3      MAX_PAGES_PER_SCAN = 12      extract.MODEL = gpt-4o</a:t>
            </a:r>
            <a:endParaRPr lang="en-US" sz="1200" dirty="0"/>
          </a:p>
        </p:txBody>
      </p:sp>
      <p:sp>
        <p:nvSpPr>
          <p:cNvPr id="14" name="Shape 12"/>
          <p:cNvSpPr/>
          <p:nvPr/>
        </p:nvSpPr>
        <p:spPr>
          <a:xfrm>
            <a:off x="658368" y="4069080"/>
            <a:ext cx="10872216" cy="777240"/>
          </a:xfrm>
          <a:prstGeom prst="roundRect">
            <a:avLst>
              <a:gd name="adj" fmla="val 9412"/>
            </a:avLst>
          </a:prstGeom>
          <a:solidFill>
            <a:srgbClr val="FFFFFF"/>
          </a:solidFill>
          <a:ln w="12700">
            <a:solidFill>
              <a:srgbClr val="E2E8F0"/>
            </a:solidFill>
            <a:prstDash val="solid"/>
          </a:ln>
        </p:spPr>
      </p:sp>
      <p:sp>
        <p:nvSpPr>
          <p:cNvPr id="15" name="Text 13"/>
          <p:cNvSpPr/>
          <p:nvPr/>
        </p:nvSpPr>
        <p:spPr>
          <a:xfrm>
            <a:off x="978408" y="4069080"/>
            <a:ext cx="10232136" cy="77724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gpt-4o runs on every fetched page  </a:t>
            </a:r>
            <a:pPr indent="0" marL="0">
              <a:buNone/>
            </a:pPr>
            <a:r>
              <a:rPr lang="en-US" sz="1400" dirty="0">
                <a:solidFill>
                  <a:srgbClr val="475569"/>
                </a:solidFill>
                <a:latin typeface="Calibri" pitchFamily="34" charset="0"/>
                <a:ea typeface="Calibri" pitchFamily="34" charset="-122"/>
                <a:cs typeface="Calibri" pitchFamily="34" charset="-120"/>
              </a:rPr>
              <a:t>— the largest model in the stack, applied uniformly, with no triage.</a:t>
            </a:r>
            <a:endParaRPr lang="en-US" sz="1400" dirty="0"/>
          </a:p>
        </p:txBody>
      </p:sp>
      <p:sp>
        <p:nvSpPr>
          <p:cNvPr id="16" name="Shape 14"/>
          <p:cNvSpPr/>
          <p:nvPr/>
        </p:nvSpPr>
        <p:spPr>
          <a:xfrm>
            <a:off x="658368" y="4983480"/>
            <a:ext cx="10872216" cy="658368"/>
          </a:xfrm>
          <a:prstGeom prst="roundRect">
            <a:avLst>
              <a:gd name="adj" fmla="val 11111"/>
            </a:avLst>
          </a:prstGeom>
          <a:solidFill>
            <a:srgbClr val="0F172A"/>
          </a:solidFill>
          <a:ln w="12700">
            <a:solidFill>
              <a:srgbClr val="0F172A"/>
            </a:solidFill>
            <a:prstDash val="solid"/>
          </a:ln>
        </p:spPr>
      </p:sp>
      <p:sp>
        <p:nvSpPr>
          <p:cNvPr id="17" name="Text 15"/>
          <p:cNvSpPr/>
          <p:nvPr/>
        </p:nvSpPr>
        <p:spPr>
          <a:xfrm>
            <a:off x="978408" y="4983480"/>
            <a:ext cx="10232136" cy="65836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Repeated work is the dominant hotspot. It is also the cheapest to fix.</a:t>
            </a:r>
            <a:endParaRPr lang="en-US" sz="1500" dirty="0"/>
          </a:p>
        </p:txBody>
      </p:sp>
      <p:sp>
        <p:nvSpPr>
          <p:cNvPr id="18" name="Text 16"/>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9" name="Text 17"/>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THE CENTREPIECE</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Passes 2 and 3 redo pass 1</a:t>
            </a:r>
            <a:endParaRPr lang="en-US" sz="3200" dirty="0"/>
          </a:p>
        </p:txBody>
      </p:sp>
      <p:sp>
        <p:nvSpPr>
          <p:cNvPr id="4" name="Shape 2"/>
          <p:cNvSpPr/>
          <p:nvPr/>
        </p:nvSpPr>
        <p:spPr>
          <a:xfrm>
            <a:off x="658368" y="2011680"/>
            <a:ext cx="3453384" cy="1371600"/>
          </a:xfrm>
          <a:prstGeom prst="roundRect">
            <a:avLst>
              <a:gd name="adj" fmla="val 5333"/>
            </a:avLst>
          </a:prstGeom>
          <a:solidFill>
            <a:srgbClr val="FFFFFF"/>
          </a:solidFill>
          <a:ln w="12700">
            <a:solidFill>
              <a:srgbClr val="E2E8F0"/>
            </a:solidFill>
            <a:prstDash val="solid"/>
          </a:ln>
        </p:spPr>
      </p:sp>
      <p:sp>
        <p:nvSpPr>
          <p:cNvPr id="5" name="Text 3"/>
          <p:cNvSpPr/>
          <p:nvPr/>
        </p:nvSpPr>
        <p:spPr>
          <a:xfrm>
            <a:off x="914400" y="2176272"/>
            <a:ext cx="2941320" cy="256032"/>
          </a:xfrm>
          <a:prstGeom prst="rect">
            <a:avLst/>
          </a:prstGeom>
          <a:noFill/>
          <a:ln/>
        </p:spPr>
        <p:txBody>
          <a:bodyPr wrap="square" lIns="0" tIns="0" rIns="0" bIns="0" rtlCol="0" anchor="ctr"/>
          <a:lstStyle/>
          <a:p>
            <a:pPr indent="0" marL="0">
              <a:buNone/>
            </a:pPr>
            <a:r>
              <a:rPr lang="en-US" sz="1200" b="1" spc="140" kern="0" dirty="0">
                <a:solidFill>
                  <a:srgbClr val="475569"/>
                </a:solidFill>
                <a:latin typeface="Calibri" pitchFamily="34" charset="0"/>
                <a:ea typeface="Calibri" pitchFamily="34" charset="-122"/>
                <a:cs typeface="Calibri" pitchFamily="34" charset="-120"/>
              </a:rPr>
              <a:t>PASS 1</a:t>
            </a:r>
            <a:endParaRPr lang="en-US" sz="1200" dirty="0"/>
          </a:p>
        </p:txBody>
      </p:sp>
      <p:sp>
        <p:nvSpPr>
          <p:cNvPr id="6" name="Text 4"/>
          <p:cNvSpPr/>
          <p:nvPr/>
        </p:nvSpPr>
        <p:spPr>
          <a:xfrm>
            <a:off x="914400" y="2468880"/>
            <a:ext cx="2941320" cy="45720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30 queries · 12 pages</a:t>
            </a:r>
            <a:endParaRPr lang="en-US" sz="1400" dirty="0"/>
          </a:p>
        </p:txBody>
      </p:sp>
      <p:sp>
        <p:nvSpPr>
          <p:cNvPr id="7" name="Text 5"/>
          <p:cNvSpPr/>
          <p:nvPr/>
        </p:nvSpPr>
        <p:spPr>
          <a:xfrm>
            <a:off x="914400" y="2962656"/>
            <a:ext cx="2941320" cy="2743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findings kept</a:t>
            </a:r>
            <a:endParaRPr lang="en-US" sz="1150" dirty="0"/>
          </a:p>
        </p:txBody>
      </p:sp>
      <p:sp>
        <p:nvSpPr>
          <p:cNvPr id="8" name="Shape 6"/>
          <p:cNvSpPr/>
          <p:nvPr/>
        </p:nvSpPr>
        <p:spPr>
          <a:xfrm>
            <a:off x="4367784" y="2011680"/>
            <a:ext cx="3453384" cy="1371600"/>
          </a:xfrm>
          <a:prstGeom prst="roundRect">
            <a:avLst>
              <a:gd name="adj" fmla="val 5333"/>
            </a:avLst>
          </a:prstGeom>
          <a:solidFill>
            <a:srgbClr val="FFF7ED"/>
          </a:solidFill>
          <a:ln w="12700">
            <a:solidFill>
              <a:srgbClr val="FDBA74"/>
            </a:solidFill>
            <a:prstDash val="solid"/>
          </a:ln>
        </p:spPr>
      </p:sp>
      <p:sp>
        <p:nvSpPr>
          <p:cNvPr id="9" name="Text 7"/>
          <p:cNvSpPr/>
          <p:nvPr/>
        </p:nvSpPr>
        <p:spPr>
          <a:xfrm>
            <a:off x="4623816" y="2176272"/>
            <a:ext cx="2941320" cy="256032"/>
          </a:xfrm>
          <a:prstGeom prst="rect">
            <a:avLst/>
          </a:prstGeom>
          <a:noFill/>
          <a:ln/>
        </p:spPr>
        <p:txBody>
          <a:bodyPr wrap="square" lIns="0" tIns="0" rIns="0" bIns="0" rtlCol="0" anchor="ctr"/>
          <a:lstStyle/>
          <a:p>
            <a:pPr indent="0" marL="0">
              <a:buNone/>
            </a:pPr>
            <a:r>
              <a:rPr lang="en-US" sz="1200" b="1" spc="140" kern="0" dirty="0">
                <a:solidFill>
                  <a:srgbClr val="C2410C"/>
                </a:solidFill>
                <a:latin typeface="Calibri" pitchFamily="34" charset="0"/>
                <a:ea typeface="Calibri" pitchFamily="34" charset="-122"/>
                <a:cs typeface="Calibri" pitchFamily="34" charset="-120"/>
              </a:rPr>
              <a:t>PASS 2</a:t>
            </a:r>
            <a:endParaRPr lang="en-US" sz="1200" dirty="0"/>
          </a:p>
        </p:txBody>
      </p:sp>
      <p:sp>
        <p:nvSpPr>
          <p:cNvPr id="10" name="Text 8"/>
          <p:cNvSpPr/>
          <p:nvPr/>
        </p:nvSpPr>
        <p:spPr>
          <a:xfrm>
            <a:off x="4623816" y="2468880"/>
            <a:ext cx="2941320" cy="45720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same 30 queries · the same 12 pages</a:t>
            </a:r>
            <a:endParaRPr lang="en-US" sz="1400" dirty="0"/>
          </a:p>
        </p:txBody>
      </p:sp>
      <p:sp>
        <p:nvSpPr>
          <p:cNvPr id="11" name="Text 9"/>
          <p:cNvSpPr/>
          <p:nvPr/>
        </p:nvSpPr>
        <p:spPr>
          <a:xfrm>
            <a:off x="4623816" y="2962656"/>
            <a:ext cx="2941320" cy="2743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pass 1 findings replaced</a:t>
            </a:r>
            <a:endParaRPr lang="en-US" sz="1150" dirty="0"/>
          </a:p>
        </p:txBody>
      </p:sp>
      <p:sp>
        <p:nvSpPr>
          <p:cNvPr id="12" name="Shape 10"/>
          <p:cNvSpPr/>
          <p:nvPr/>
        </p:nvSpPr>
        <p:spPr>
          <a:xfrm>
            <a:off x="4120896" y="2697480"/>
            <a:ext cx="246888" cy="0"/>
          </a:xfrm>
          <a:prstGeom prst="line">
            <a:avLst/>
          </a:prstGeom>
          <a:noFill/>
          <a:ln w="25400">
            <a:solidFill>
              <a:srgbClr val="C2410C"/>
            </a:solidFill>
            <a:prstDash val="solid"/>
            <a:tailEnd type="triangle"/>
          </a:ln>
        </p:spPr>
      </p:sp>
      <p:sp>
        <p:nvSpPr>
          <p:cNvPr id="13" name="Shape 11"/>
          <p:cNvSpPr/>
          <p:nvPr/>
        </p:nvSpPr>
        <p:spPr>
          <a:xfrm>
            <a:off x="8077200" y="2011680"/>
            <a:ext cx="3453384" cy="1371600"/>
          </a:xfrm>
          <a:prstGeom prst="roundRect">
            <a:avLst>
              <a:gd name="adj" fmla="val 5333"/>
            </a:avLst>
          </a:prstGeom>
          <a:solidFill>
            <a:srgbClr val="FFF7ED"/>
          </a:solidFill>
          <a:ln w="12700">
            <a:solidFill>
              <a:srgbClr val="FDBA74"/>
            </a:solidFill>
            <a:prstDash val="solid"/>
          </a:ln>
        </p:spPr>
      </p:sp>
      <p:sp>
        <p:nvSpPr>
          <p:cNvPr id="14" name="Text 12"/>
          <p:cNvSpPr/>
          <p:nvPr/>
        </p:nvSpPr>
        <p:spPr>
          <a:xfrm>
            <a:off x="8333232" y="2176272"/>
            <a:ext cx="2941320" cy="256032"/>
          </a:xfrm>
          <a:prstGeom prst="rect">
            <a:avLst/>
          </a:prstGeom>
          <a:noFill/>
          <a:ln/>
        </p:spPr>
        <p:txBody>
          <a:bodyPr wrap="square" lIns="0" tIns="0" rIns="0" bIns="0" rtlCol="0" anchor="ctr"/>
          <a:lstStyle/>
          <a:p>
            <a:pPr indent="0" marL="0">
              <a:buNone/>
            </a:pPr>
            <a:r>
              <a:rPr lang="en-US" sz="1200" b="1" spc="140" kern="0" dirty="0">
                <a:solidFill>
                  <a:srgbClr val="C2410C"/>
                </a:solidFill>
                <a:latin typeface="Calibri" pitchFamily="34" charset="0"/>
                <a:ea typeface="Calibri" pitchFamily="34" charset="-122"/>
                <a:cs typeface="Calibri" pitchFamily="34" charset="-120"/>
              </a:rPr>
              <a:t>PASS 3</a:t>
            </a:r>
            <a:endParaRPr lang="en-US" sz="1200" dirty="0"/>
          </a:p>
        </p:txBody>
      </p:sp>
      <p:sp>
        <p:nvSpPr>
          <p:cNvPr id="15" name="Text 13"/>
          <p:cNvSpPr/>
          <p:nvPr/>
        </p:nvSpPr>
        <p:spPr>
          <a:xfrm>
            <a:off x="8333232" y="2468880"/>
            <a:ext cx="2941320" cy="45720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same 30 queries · the same 12 pages</a:t>
            </a:r>
            <a:endParaRPr lang="en-US" sz="1400" dirty="0"/>
          </a:p>
        </p:txBody>
      </p:sp>
      <p:sp>
        <p:nvSpPr>
          <p:cNvPr id="16" name="Text 14"/>
          <p:cNvSpPr/>
          <p:nvPr/>
        </p:nvSpPr>
        <p:spPr>
          <a:xfrm>
            <a:off x="8333232" y="2962656"/>
            <a:ext cx="2941320" cy="2743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pass 1 findings re-derived</a:t>
            </a:r>
            <a:endParaRPr lang="en-US" sz="1150" dirty="0"/>
          </a:p>
        </p:txBody>
      </p:sp>
      <p:sp>
        <p:nvSpPr>
          <p:cNvPr id="17" name="Shape 15"/>
          <p:cNvSpPr/>
          <p:nvPr/>
        </p:nvSpPr>
        <p:spPr>
          <a:xfrm>
            <a:off x="7830312" y="2697480"/>
            <a:ext cx="246888" cy="0"/>
          </a:xfrm>
          <a:prstGeom prst="line">
            <a:avLst/>
          </a:prstGeom>
          <a:noFill/>
          <a:ln w="25400">
            <a:solidFill>
              <a:srgbClr val="C2410C"/>
            </a:solidFill>
            <a:prstDash val="solid"/>
            <a:tailEnd type="triangle"/>
          </a:ln>
        </p:spPr>
      </p:sp>
      <p:sp>
        <p:nvSpPr>
          <p:cNvPr id="18" name="Shape 16"/>
          <p:cNvSpPr/>
          <p:nvPr/>
        </p:nvSpPr>
        <p:spPr>
          <a:xfrm>
            <a:off x="658368" y="3657600"/>
            <a:ext cx="10872216" cy="868680"/>
          </a:xfrm>
          <a:prstGeom prst="roundRect">
            <a:avLst>
              <a:gd name="adj" fmla="val 8421"/>
            </a:avLst>
          </a:prstGeom>
          <a:solidFill>
            <a:srgbClr val="0F172A"/>
          </a:solidFill>
          <a:ln w="12700">
            <a:solidFill>
              <a:srgbClr val="0F172A"/>
            </a:solidFill>
            <a:prstDash val="solid"/>
          </a:ln>
        </p:spPr>
      </p:sp>
      <p:sp>
        <p:nvSpPr>
          <p:cNvPr id="19" name="Text 17"/>
          <p:cNvSpPr/>
          <p:nvPr/>
        </p:nvSpPr>
        <p:spPr>
          <a:xfrm>
            <a:off x="978408" y="3657600"/>
            <a:ext cx="10232136" cy="8686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retry cannot find a better source. It can only pay again for the same one.</a:t>
            </a:r>
            <a:endParaRPr lang="en-US" sz="1900" dirty="0"/>
          </a:p>
        </p:txBody>
      </p:sp>
      <p:sp>
        <p:nvSpPr>
          <p:cNvPr id="20" name="Text 18"/>
          <p:cNvSpPr/>
          <p:nvPr/>
        </p:nvSpPr>
        <p:spPr>
          <a:xfrm>
            <a:off x="658368" y="4709160"/>
            <a:ext cx="10872216" cy="27432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Nothing is cached between passes — no query cache, no page cache, no extraction cache.</a:t>
            </a:r>
            <a:endParaRPr lang="en-US" sz="1400" dirty="0"/>
          </a:p>
        </p:txBody>
      </p:sp>
      <p:sp>
        <p:nvSpPr>
          <p:cNvPr id="21" name="Shape 19"/>
          <p:cNvSpPr/>
          <p:nvPr/>
        </p:nvSpPr>
        <p:spPr>
          <a:xfrm>
            <a:off x="658368" y="5120640"/>
            <a:ext cx="10872216" cy="658368"/>
          </a:xfrm>
          <a:prstGeom prst="roundRect">
            <a:avLst>
              <a:gd name="adj" fmla="val 11111"/>
            </a:avLst>
          </a:prstGeom>
          <a:solidFill>
            <a:srgbClr val="FFF7ED"/>
          </a:solidFill>
          <a:ln w="12700">
            <a:solidFill>
              <a:srgbClr val="FDBA74"/>
            </a:solidFill>
            <a:prstDash val="solid"/>
          </a:ln>
        </p:spPr>
      </p:sp>
      <p:sp>
        <p:nvSpPr>
          <p:cNvPr id="22" name="Text 20"/>
          <p:cNvSpPr/>
          <p:nvPr/>
        </p:nvSpPr>
        <p:spPr>
          <a:xfrm>
            <a:off x="932688" y="5120640"/>
            <a:ext cx="10323576" cy="658368"/>
          </a:xfrm>
          <a:prstGeom prst="rect">
            <a:avLst/>
          </a:prstGeom>
          <a:noFill/>
          <a:ln/>
        </p:spPr>
        <p:txBody>
          <a:bodyPr wrap="square" lIns="0" tIns="0" rIns="0" bIns="0" rtlCol="0" anchor="ctr"/>
          <a:lstStyle/>
          <a:p>
            <a:pPr indent="0" marL="0">
              <a:buNone/>
            </a:pPr>
            <a:r>
              <a:rPr lang="en-US" sz="1000" b="1" spc="120" kern="0" dirty="0">
                <a:solidFill>
                  <a:srgbClr val="C2410C"/>
                </a:solidFill>
                <a:latin typeface="Calibri" pitchFamily="34" charset="0"/>
                <a:ea typeface="Calibri" pitchFamily="34" charset="-122"/>
                <a:cs typeface="Calibri" pitchFamily="34" charset="-120"/>
              </a:rPr>
              <a:t>EVIDENCE   </a:t>
            </a:r>
            <a:pPr indent="0" marL="0">
              <a:buNone/>
            </a:pPr>
            <a:r>
              <a:rPr lang="en-US" sz="1350" dirty="0">
                <a:solidFill>
                  <a:srgbClr val="0F172A"/>
                </a:solidFill>
                <a:latin typeface="Calibri" pitchFamily="34" charset="0"/>
                <a:ea typeface="Calibri" pitchFamily="34" charset="-122"/>
                <a:cs typeface="Calibri" pitchFamily="34" charset="-120"/>
              </a:rPr>
              <a:t>One 12-company evaluation run costs roughly $2 and 25 minutes — and five runs were needed, because single runs are not reproducible.</a:t>
            </a:r>
            <a:endParaRPr lang="en-US" sz="1000" dirty="0"/>
          </a:p>
        </p:txBody>
      </p:sp>
      <p:sp>
        <p:nvSpPr>
          <p:cNvPr id="23" name="Text 21"/>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24" name="Text 22"/>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"WHY SHOULD WE BELIEVE THIS?"</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What I am guessing, and what I do not know</a:t>
            </a:r>
            <a:endParaRPr lang="en-US" sz="3200" dirty="0"/>
          </a:p>
        </p:txBody>
      </p:sp>
      <p:sp>
        <p:nvSpPr>
          <p:cNvPr id="4" name="Shape 2"/>
          <p:cNvSpPr/>
          <p:nvPr/>
        </p:nvSpPr>
        <p:spPr>
          <a:xfrm>
            <a:off x="658368" y="1965960"/>
            <a:ext cx="3453384" cy="3200400"/>
          </a:xfrm>
          <a:prstGeom prst="roundRect">
            <a:avLst>
              <a:gd name="adj" fmla="val 2286"/>
            </a:avLst>
          </a:prstGeom>
          <a:solidFill>
            <a:srgbClr val="FFF7ED"/>
          </a:solidFill>
          <a:ln w="12700">
            <a:solidFill>
              <a:srgbClr val="FDBA74"/>
            </a:solidFill>
            <a:prstDash val="solid"/>
          </a:ln>
        </p:spPr>
      </p:sp>
      <p:sp>
        <p:nvSpPr>
          <p:cNvPr id="5" name="Text 3"/>
          <p:cNvSpPr/>
          <p:nvPr/>
        </p:nvSpPr>
        <p:spPr>
          <a:xfrm>
            <a:off x="932688" y="2176272"/>
            <a:ext cx="2904744" cy="274320"/>
          </a:xfrm>
          <a:prstGeom prst="rect">
            <a:avLst/>
          </a:prstGeom>
          <a:noFill/>
          <a:ln/>
        </p:spPr>
        <p:txBody>
          <a:bodyPr wrap="square" lIns="0" tIns="0" rIns="0" bIns="0" rtlCol="0" anchor="ctr"/>
          <a:lstStyle/>
          <a:p>
            <a:pPr indent="0" marL="0">
              <a:buNone/>
            </a:pPr>
            <a:r>
              <a:rPr lang="en-US" sz="1400" b="1" spc="160" kern="0" dirty="0">
                <a:solidFill>
                  <a:srgbClr val="C2410C"/>
                </a:solidFill>
                <a:latin typeface="Calibri" pitchFamily="34" charset="0"/>
                <a:ea typeface="Calibri" pitchFamily="34" charset="-122"/>
                <a:cs typeface="Calibri" pitchFamily="34" charset="-120"/>
              </a:rPr>
              <a:t>ASSUMED</a:t>
            </a:r>
            <a:endParaRPr lang="en-US" sz="1400" dirty="0"/>
          </a:p>
        </p:txBody>
      </p:sp>
      <p:sp>
        <p:nvSpPr>
          <p:cNvPr id="6" name="Text 4"/>
          <p:cNvSpPr/>
          <p:nvPr/>
        </p:nvSpPr>
        <p:spPr>
          <a:xfrm>
            <a:off x="932688" y="2450592"/>
            <a:ext cx="2904744" cy="237744"/>
          </a:xfrm>
          <a:prstGeom prst="rect">
            <a:avLst/>
          </a:prstGeom>
          <a:noFill/>
          <a:ln/>
        </p:spPr>
        <p:txBody>
          <a:bodyPr wrap="square" lIns="0" tIns="0" rIns="0" bIns="0" rtlCol="0" anchor="ctr"/>
          <a:lstStyle/>
          <a:p>
            <a:pPr indent="0" marL="0">
              <a:buNone/>
            </a:pPr>
            <a:r>
              <a:rPr lang="en-US" sz="1050" i="1" dirty="0">
                <a:solidFill>
                  <a:srgbClr val="475569"/>
                </a:solidFill>
                <a:latin typeface="Calibri" pitchFamily="34" charset="0"/>
                <a:ea typeface="Calibri" pitchFamily="34" charset="-122"/>
                <a:cs typeface="Calibri" pitchFamily="34" charset="-120"/>
              </a:rPr>
              <a:t>inferred, not measured</a:t>
            </a:r>
            <a:endParaRPr lang="en-US" sz="1050" dirty="0"/>
          </a:p>
        </p:txBody>
      </p:sp>
      <p:sp>
        <p:nvSpPr>
          <p:cNvPr id="7" name="Text 5"/>
          <p:cNvSpPr/>
          <p:nvPr/>
        </p:nvSpPr>
        <p:spPr>
          <a:xfrm>
            <a:off x="932688" y="2798064"/>
            <a:ext cx="2904744" cy="73152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No per-call energy from OpenAI or Pinecone — so no SCI figure is computed here.</a:t>
            </a:r>
            <a:endParaRPr lang="en-US" sz="1250" dirty="0"/>
          </a:p>
        </p:txBody>
      </p:sp>
      <p:sp>
        <p:nvSpPr>
          <p:cNvPr id="8" name="Text 6"/>
          <p:cNvSpPr/>
          <p:nvPr/>
        </p:nvSpPr>
        <p:spPr>
          <a:xfrm>
            <a:off x="932688" y="3584448"/>
            <a:ext cx="2904744" cy="73152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Extraction dominates energy per R. Plausible from call counts; not measured.</a:t>
            </a:r>
            <a:endParaRPr lang="en-US" sz="1250" dirty="0"/>
          </a:p>
        </p:txBody>
      </p:sp>
      <p:sp>
        <p:nvSpPr>
          <p:cNvPr id="9" name="Text 7"/>
          <p:cNvSpPr/>
          <p:nvPr/>
        </p:nvSpPr>
        <p:spPr>
          <a:xfrm>
            <a:off x="932688" y="4370832"/>
            <a:ext cx="2904744" cy="73152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Page fetches are small next to inference. Wrong if a scan hits large PDFs.</a:t>
            </a:r>
            <a:endParaRPr lang="en-US" sz="1250" dirty="0"/>
          </a:p>
        </p:txBody>
      </p:sp>
      <p:sp>
        <p:nvSpPr>
          <p:cNvPr id="10" name="Shape 8"/>
          <p:cNvSpPr/>
          <p:nvPr/>
        </p:nvSpPr>
        <p:spPr>
          <a:xfrm>
            <a:off x="4367784" y="1965960"/>
            <a:ext cx="3453384" cy="3200400"/>
          </a:xfrm>
          <a:prstGeom prst="roundRect">
            <a:avLst>
              <a:gd name="adj" fmla="val 2286"/>
            </a:avLst>
          </a:prstGeom>
          <a:solidFill>
            <a:srgbClr val="F0FDFA"/>
          </a:solidFill>
          <a:ln w="12700">
            <a:solidFill>
              <a:srgbClr val="5EEAD4"/>
            </a:solidFill>
            <a:prstDash val="solid"/>
          </a:ln>
        </p:spPr>
      </p:sp>
      <p:sp>
        <p:nvSpPr>
          <p:cNvPr id="11" name="Text 9"/>
          <p:cNvSpPr/>
          <p:nvPr/>
        </p:nvSpPr>
        <p:spPr>
          <a:xfrm>
            <a:off x="4642104" y="2176272"/>
            <a:ext cx="2904744" cy="274320"/>
          </a:xfrm>
          <a:prstGeom prst="rect">
            <a:avLst/>
          </a:prstGeom>
          <a:noFill/>
          <a:ln/>
        </p:spPr>
        <p:txBody>
          <a:bodyPr wrap="square" lIns="0" tIns="0" rIns="0" bIns="0" rtlCol="0" anchor="ctr"/>
          <a:lstStyle/>
          <a:p>
            <a:pPr indent="0" marL="0">
              <a:buNone/>
            </a:pPr>
            <a:r>
              <a:rPr lang="en-US" sz="1400" b="1" spc="160" kern="0" dirty="0">
                <a:solidFill>
                  <a:srgbClr val="0F766E"/>
                </a:solidFill>
                <a:latin typeface="Calibri" pitchFamily="34" charset="0"/>
                <a:ea typeface="Calibri" pitchFamily="34" charset="-122"/>
                <a:cs typeface="Calibri" pitchFamily="34" charset="-120"/>
              </a:rPr>
              <a:t>KNOWN</a:t>
            </a:r>
            <a:endParaRPr lang="en-US" sz="1400" dirty="0"/>
          </a:p>
        </p:txBody>
      </p:sp>
      <p:sp>
        <p:nvSpPr>
          <p:cNvPr id="12" name="Text 10"/>
          <p:cNvSpPr/>
          <p:nvPr/>
        </p:nvSpPr>
        <p:spPr>
          <a:xfrm>
            <a:off x="4642104" y="2450592"/>
            <a:ext cx="2904744" cy="237744"/>
          </a:xfrm>
          <a:prstGeom prst="rect">
            <a:avLst/>
          </a:prstGeom>
          <a:noFill/>
          <a:ln/>
        </p:spPr>
        <p:txBody>
          <a:bodyPr wrap="square" lIns="0" tIns="0" rIns="0" bIns="0" rtlCol="0" anchor="ctr"/>
          <a:lstStyle/>
          <a:p>
            <a:pPr indent="0" marL="0">
              <a:buNone/>
            </a:pPr>
            <a:r>
              <a:rPr lang="en-US" sz="1050" i="1" dirty="0">
                <a:solidFill>
                  <a:srgbClr val="475569"/>
                </a:solidFill>
                <a:latin typeface="Calibri" pitchFamily="34" charset="0"/>
                <a:ea typeface="Calibri" pitchFamily="34" charset="-122"/>
                <a:cs typeface="Calibri" pitchFamily="34" charset="-120"/>
              </a:rPr>
              <a:t>read from the code</a:t>
            </a:r>
            <a:endParaRPr lang="en-US" sz="1050" dirty="0"/>
          </a:p>
        </p:txBody>
      </p:sp>
      <p:sp>
        <p:nvSpPr>
          <p:cNvPr id="13" name="Text 11"/>
          <p:cNvSpPr/>
          <p:nvPr/>
        </p:nvSpPr>
        <p:spPr>
          <a:xfrm>
            <a:off x="4642104" y="2798064"/>
            <a:ext cx="2904744" cy="73152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Call counts, pass limits, page caps, model names.</a:t>
            </a:r>
            <a:endParaRPr lang="en-US" sz="1250" dirty="0"/>
          </a:p>
        </p:txBody>
      </p:sp>
      <p:sp>
        <p:nvSpPr>
          <p:cNvPr id="14" name="Text 12"/>
          <p:cNvSpPr/>
          <p:nvPr/>
        </p:nvSpPr>
        <p:spPr>
          <a:xfrm>
            <a:off x="4642104" y="3584448"/>
            <a:ext cx="2904744" cy="73152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The duplicate-query defect and the evaluation cost — both recorded in the repository before this audit.</a:t>
            </a:r>
            <a:endParaRPr lang="en-US" sz="1250" dirty="0"/>
          </a:p>
        </p:txBody>
      </p:sp>
      <p:sp>
        <p:nvSpPr>
          <p:cNvPr id="15" name="Shape 13"/>
          <p:cNvSpPr/>
          <p:nvPr/>
        </p:nvSpPr>
        <p:spPr>
          <a:xfrm>
            <a:off x="8077200" y="1965960"/>
            <a:ext cx="3453384" cy="3200400"/>
          </a:xfrm>
          <a:prstGeom prst="roundRect">
            <a:avLst>
              <a:gd name="adj" fmla="val 2286"/>
            </a:avLst>
          </a:prstGeom>
          <a:solidFill>
            <a:srgbClr val="FFFFFF"/>
          </a:solidFill>
          <a:ln w="12700">
            <a:solidFill>
              <a:srgbClr val="E2E8F0"/>
            </a:solidFill>
            <a:prstDash val="solid"/>
          </a:ln>
        </p:spPr>
      </p:sp>
      <p:sp>
        <p:nvSpPr>
          <p:cNvPr id="16" name="Text 14"/>
          <p:cNvSpPr/>
          <p:nvPr/>
        </p:nvSpPr>
        <p:spPr>
          <a:xfrm>
            <a:off x="8351520" y="2176272"/>
            <a:ext cx="2904744" cy="274320"/>
          </a:xfrm>
          <a:prstGeom prst="rect">
            <a:avLst/>
          </a:prstGeom>
          <a:noFill/>
          <a:ln/>
        </p:spPr>
        <p:txBody>
          <a:bodyPr wrap="square" lIns="0" tIns="0" rIns="0" bIns="0" rtlCol="0" anchor="ctr"/>
          <a:lstStyle/>
          <a:p>
            <a:pPr indent="0" marL="0">
              <a:buNone/>
            </a:pPr>
            <a:r>
              <a:rPr lang="en-US" sz="1400" b="1" spc="160" kern="0" dirty="0">
                <a:solidFill>
                  <a:srgbClr val="475569"/>
                </a:solidFill>
                <a:latin typeface="Calibri" pitchFamily="34" charset="0"/>
                <a:ea typeface="Calibri" pitchFamily="34" charset="-122"/>
                <a:cs typeface="Calibri" pitchFamily="34" charset="-120"/>
              </a:rPr>
              <a:t>UNKNOWN</a:t>
            </a:r>
            <a:endParaRPr lang="en-US" sz="1400" dirty="0"/>
          </a:p>
        </p:txBody>
      </p:sp>
      <p:sp>
        <p:nvSpPr>
          <p:cNvPr id="17" name="Text 15"/>
          <p:cNvSpPr/>
          <p:nvPr/>
        </p:nvSpPr>
        <p:spPr>
          <a:xfrm>
            <a:off x="8351520" y="2450592"/>
            <a:ext cx="2904744" cy="237744"/>
          </a:xfrm>
          <a:prstGeom prst="rect">
            <a:avLst/>
          </a:prstGeom>
          <a:noFill/>
          <a:ln/>
        </p:spPr>
        <p:txBody>
          <a:bodyPr wrap="square" lIns="0" tIns="0" rIns="0" bIns="0" rtlCol="0" anchor="ctr"/>
          <a:lstStyle/>
          <a:p>
            <a:pPr indent="0" marL="0">
              <a:buNone/>
            </a:pPr>
            <a:r>
              <a:rPr lang="en-US" sz="1050" i="1" dirty="0">
                <a:solidFill>
                  <a:srgbClr val="475569"/>
                </a:solidFill>
                <a:latin typeface="Calibri" pitchFamily="34" charset="0"/>
                <a:ea typeface="Calibri" pitchFamily="34" charset="-122"/>
                <a:cs typeface="Calibri" pitchFamily="34" charset="-120"/>
              </a:rPr>
              <a:t>no data exists yet</a:t>
            </a:r>
            <a:endParaRPr lang="en-US" sz="1050" dirty="0"/>
          </a:p>
        </p:txBody>
      </p:sp>
      <p:sp>
        <p:nvSpPr>
          <p:cNvPr id="18" name="Text 16"/>
          <p:cNvSpPr/>
          <p:nvPr/>
        </p:nvSpPr>
        <p:spPr>
          <a:xfrm>
            <a:off x="8351520" y="2798064"/>
            <a:ext cx="2904744" cy="73152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How often a real scan reaches pass 3 in production. There is no production telemetry.</a:t>
            </a:r>
            <a:endParaRPr lang="en-US" sz="1250" dirty="0"/>
          </a:p>
        </p:txBody>
      </p:sp>
      <p:sp>
        <p:nvSpPr>
          <p:cNvPr id="19" name="Text 17"/>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20" name="Text 18"/>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GREEN SOFTWARE FOUNDATION PILLARS</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Where each hotspot lands</a:t>
            </a:r>
            <a:endParaRPr lang="en-US" sz="3200" dirty="0"/>
          </a:p>
        </p:txBody>
      </p:sp>
      <p:sp>
        <p:nvSpPr>
          <p:cNvPr id="4" name="Shape 2"/>
          <p:cNvSpPr/>
          <p:nvPr/>
        </p:nvSpPr>
        <p:spPr>
          <a:xfrm>
            <a:off x="658368" y="2011680"/>
            <a:ext cx="5289804" cy="1508760"/>
          </a:xfrm>
          <a:prstGeom prst="roundRect">
            <a:avLst>
              <a:gd name="adj" fmla="val 4848"/>
            </a:avLst>
          </a:prstGeom>
          <a:solidFill>
            <a:srgbClr val="FFF7ED"/>
          </a:solidFill>
          <a:ln w="12700">
            <a:solidFill>
              <a:srgbClr val="FDBA74"/>
            </a:solidFill>
            <a:prstDash val="solid"/>
          </a:ln>
        </p:spPr>
      </p:sp>
      <p:sp>
        <p:nvSpPr>
          <p:cNvPr id="5" name="Text 3"/>
          <p:cNvSpPr/>
          <p:nvPr/>
        </p:nvSpPr>
        <p:spPr>
          <a:xfrm>
            <a:off x="950976" y="2231136"/>
            <a:ext cx="4704588" cy="274320"/>
          </a:xfrm>
          <a:prstGeom prst="rect">
            <a:avLst/>
          </a:prstGeom>
          <a:noFill/>
          <a:ln/>
        </p:spPr>
        <p:txBody>
          <a:bodyPr wrap="square" lIns="0" tIns="0" rIns="0" bIns="0" rtlCol="0" anchor="ctr"/>
          <a:lstStyle/>
          <a:p>
            <a:pPr indent="0" marL="0">
              <a:buNone/>
            </a:pPr>
            <a:r>
              <a:rPr lang="en-US" sz="1300" b="1" spc="140" kern="0" dirty="0">
                <a:solidFill>
                  <a:srgbClr val="C2410C"/>
                </a:solidFill>
                <a:latin typeface="Calibri" pitchFamily="34" charset="0"/>
                <a:ea typeface="Calibri" pitchFamily="34" charset="-122"/>
                <a:cs typeface="Calibri" pitchFamily="34" charset="-120"/>
              </a:rPr>
              <a:t>ENERGY + CARBON</a:t>
            </a:r>
            <a:endParaRPr lang="en-US" sz="1300" dirty="0"/>
          </a:p>
        </p:txBody>
      </p:sp>
      <p:sp>
        <p:nvSpPr>
          <p:cNvPr id="6" name="Text 4"/>
          <p:cNvSpPr/>
          <p:nvPr/>
        </p:nvSpPr>
        <p:spPr>
          <a:xfrm>
            <a:off x="950976" y="2578608"/>
            <a:ext cx="4704588" cy="77724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Duplicate passes and uniform gpt-4o extraction — avoidable joules per R, and the largest share of it.</a:t>
            </a:r>
            <a:endParaRPr lang="en-US" sz="1300" dirty="0"/>
          </a:p>
        </p:txBody>
      </p:sp>
      <p:sp>
        <p:nvSpPr>
          <p:cNvPr id="7" name="Shape 5"/>
          <p:cNvSpPr/>
          <p:nvPr/>
        </p:nvSpPr>
        <p:spPr>
          <a:xfrm>
            <a:off x="6240780" y="2011680"/>
            <a:ext cx="5289804" cy="1508760"/>
          </a:xfrm>
          <a:prstGeom prst="roundRect">
            <a:avLst>
              <a:gd name="adj" fmla="val 4848"/>
            </a:avLst>
          </a:prstGeom>
          <a:solidFill>
            <a:srgbClr val="FFF7ED"/>
          </a:solidFill>
          <a:ln w="12700">
            <a:solidFill>
              <a:srgbClr val="FDBA74"/>
            </a:solidFill>
            <a:prstDash val="solid"/>
          </a:ln>
        </p:spPr>
      </p:sp>
      <p:sp>
        <p:nvSpPr>
          <p:cNvPr id="8" name="Text 6"/>
          <p:cNvSpPr/>
          <p:nvPr/>
        </p:nvSpPr>
        <p:spPr>
          <a:xfrm>
            <a:off x="6533388" y="2231136"/>
            <a:ext cx="4704588" cy="274320"/>
          </a:xfrm>
          <a:prstGeom prst="rect">
            <a:avLst/>
          </a:prstGeom>
          <a:noFill/>
          <a:ln/>
        </p:spPr>
        <p:txBody>
          <a:bodyPr wrap="square" lIns="0" tIns="0" rIns="0" bIns="0" rtlCol="0" anchor="ctr"/>
          <a:lstStyle/>
          <a:p>
            <a:pPr indent="0" marL="0">
              <a:buNone/>
            </a:pPr>
            <a:r>
              <a:rPr lang="en-US" sz="1300" b="1" spc="140" kern="0" dirty="0">
                <a:solidFill>
                  <a:srgbClr val="C2410C"/>
                </a:solidFill>
                <a:latin typeface="Calibri" pitchFamily="34" charset="0"/>
                <a:ea typeface="Calibri" pitchFamily="34" charset="-122"/>
                <a:cs typeface="Calibri" pitchFamily="34" charset="-120"/>
              </a:rPr>
              <a:t>HARDWARE</a:t>
            </a:r>
            <a:endParaRPr lang="en-US" sz="1300" dirty="0"/>
          </a:p>
        </p:txBody>
      </p:sp>
      <p:sp>
        <p:nvSpPr>
          <p:cNvPr id="9" name="Text 7"/>
          <p:cNvSpPr/>
          <p:nvPr/>
        </p:nvSpPr>
        <p:spPr>
          <a:xfrm>
            <a:off x="6533388" y="2578608"/>
            <a:ext cx="4704588" cy="77724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Embeddings written but never read, plus an empty vendor namespace — capacity provisioned for nothing.</a:t>
            </a:r>
            <a:endParaRPr lang="en-US" sz="1300" dirty="0"/>
          </a:p>
        </p:txBody>
      </p:sp>
      <p:sp>
        <p:nvSpPr>
          <p:cNvPr id="10" name="Shape 8"/>
          <p:cNvSpPr/>
          <p:nvPr/>
        </p:nvSpPr>
        <p:spPr>
          <a:xfrm>
            <a:off x="658368" y="3749040"/>
            <a:ext cx="5289804" cy="1508760"/>
          </a:xfrm>
          <a:prstGeom prst="roundRect">
            <a:avLst>
              <a:gd name="adj" fmla="val 4848"/>
            </a:avLst>
          </a:prstGeom>
          <a:solidFill>
            <a:srgbClr val="F0FDFA"/>
          </a:solidFill>
          <a:ln w="12700">
            <a:solidFill>
              <a:srgbClr val="5EEAD4"/>
            </a:solidFill>
            <a:prstDash val="solid"/>
          </a:ln>
        </p:spPr>
      </p:sp>
      <p:sp>
        <p:nvSpPr>
          <p:cNvPr id="11" name="Text 9"/>
          <p:cNvSpPr/>
          <p:nvPr/>
        </p:nvSpPr>
        <p:spPr>
          <a:xfrm>
            <a:off x="950976" y="3968496"/>
            <a:ext cx="4704588" cy="274320"/>
          </a:xfrm>
          <a:prstGeom prst="rect">
            <a:avLst/>
          </a:prstGeom>
          <a:noFill/>
          <a:ln/>
        </p:spPr>
        <p:txBody>
          <a:bodyPr wrap="square" lIns="0" tIns="0" rIns="0" bIns="0" rtlCol="0" anchor="ctr"/>
          <a:lstStyle/>
          <a:p>
            <a:pPr indent="0" marL="0">
              <a:buNone/>
            </a:pPr>
            <a:r>
              <a:rPr lang="en-US" sz="1300" b="1" spc="140" kern="0" dirty="0">
                <a:solidFill>
                  <a:srgbClr val="0F766E"/>
                </a:solidFill>
                <a:latin typeface="Calibri" pitchFamily="34" charset="0"/>
                <a:ea typeface="Calibri" pitchFamily="34" charset="-122"/>
                <a:cs typeface="Calibri" pitchFamily="34" charset="-120"/>
              </a:rPr>
              <a:t>MEASUREMENT</a:t>
            </a:r>
            <a:endParaRPr lang="en-US" sz="1300" dirty="0"/>
          </a:p>
        </p:txBody>
      </p:sp>
      <p:sp>
        <p:nvSpPr>
          <p:cNvPr id="12" name="Text 10"/>
          <p:cNvSpPr/>
          <p:nvPr/>
        </p:nvSpPr>
        <p:spPr>
          <a:xfrm>
            <a:off x="950976" y="4315968"/>
            <a:ext cx="4704588" cy="77724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No per-R telemetry exists. Cost and wall-clock are the only proxies available today.</a:t>
            </a:r>
            <a:endParaRPr lang="en-US" sz="1300" dirty="0"/>
          </a:p>
        </p:txBody>
      </p:sp>
      <p:sp>
        <p:nvSpPr>
          <p:cNvPr id="13" name="Shape 11"/>
          <p:cNvSpPr/>
          <p:nvPr/>
        </p:nvSpPr>
        <p:spPr>
          <a:xfrm>
            <a:off x="6240780" y="3749040"/>
            <a:ext cx="5289804" cy="1508760"/>
          </a:xfrm>
          <a:prstGeom prst="roundRect">
            <a:avLst>
              <a:gd name="adj" fmla="val 4848"/>
            </a:avLst>
          </a:prstGeom>
          <a:solidFill>
            <a:srgbClr val="F0FDFA"/>
          </a:solidFill>
          <a:ln w="12700">
            <a:solidFill>
              <a:srgbClr val="5EEAD4"/>
            </a:solidFill>
            <a:prstDash val="solid"/>
          </a:ln>
        </p:spPr>
      </p:sp>
      <p:sp>
        <p:nvSpPr>
          <p:cNvPr id="14" name="Text 12"/>
          <p:cNvSpPr/>
          <p:nvPr/>
        </p:nvSpPr>
        <p:spPr>
          <a:xfrm>
            <a:off x="6533388" y="3968496"/>
            <a:ext cx="4704588" cy="274320"/>
          </a:xfrm>
          <a:prstGeom prst="rect">
            <a:avLst/>
          </a:prstGeom>
          <a:noFill/>
          <a:ln/>
        </p:spPr>
        <p:txBody>
          <a:bodyPr wrap="square" lIns="0" tIns="0" rIns="0" bIns="0" rtlCol="0" anchor="ctr"/>
          <a:lstStyle/>
          <a:p>
            <a:pPr indent="0" marL="0">
              <a:buNone/>
            </a:pPr>
            <a:r>
              <a:rPr lang="en-US" sz="1300" b="1" spc="140" kern="0" dirty="0">
                <a:solidFill>
                  <a:srgbClr val="0F766E"/>
                </a:solidFill>
                <a:latin typeface="Calibri" pitchFamily="34" charset="0"/>
                <a:ea typeface="Calibri" pitchFamily="34" charset="-122"/>
                <a:cs typeface="Calibri" pitchFamily="34" charset="-120"/>
              </a:rPr>
              <a:t>CARBON</a:t>
            </a:r>
            <a:endParaRPr lang="en-US" sz="1300" dirty="0"/>
          </a:p>
        </p:txBody>
      </p:sp>
      <p:sp>
        <p:nvSpPr>
          <p:cNvPr id="15" name="Text 13"/>
          <p:cNvSpPr/>
          <p:nvPr/>
        </p:nvSpPr>
        <p:spPr>
          <a:xfrm>
            <a:off x="6533388" y="4315968"/>
            <a:ext cx="4704588" cy="77724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Region is unchosen rather than chosen — the grid this runs on is an accident of vendor defaults.</a:t>
            </a:r>
            <a:endParaRPr lang="en-US" sz="1300" dirty="0"/>
          </a:p>
        </p:txBody>
      </p:sp>
      <p:sp>
        <p:nvSpPr>
          <p:cNvPr id="16" name="Text 14"/>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7" name="Text 15"/>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3657600"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IMPROVEMENT 01</a:t>
            </a:r>
            <a:endParaRPr lang="en-US" sz="1100" dirty="0"/>
          </a:p>
        </p:txBody>
      </p:sp>
      <p:sp>
        <p:nvSpPr>
          <p:cNvPr id="3" name="Shape 1"/>
          <p:cNvSpPr/>
          <p:nvPr/>
        </p:nvSpPr>
        <p:spPr>
          <a:xfrm>
            <a:off x="8430768" y="329184"/>
            <a:ext cx="3099816" cy="274320"/>
          </a:xfrm>
          <a:prstGeom prst="roundRect">
            <a:avLst>
              <a:gd name="adj" fmla="val 46667"/>
            </a:avLst>
          </a:prstGeom>
          <a:solidFill>
            <a:srgbClr val="F0FDFA"/>
          </a:solidFill>
          <a:ln w="12700">
            <a:solidFill>
              <a:srgbClr val="5EEAD4"/>
            </a:solidFill>
            <a:prstDash val="solid"/>
          </a:ln>
        </p:spPr>
      </p:sp>
      <p:sp>
        <p:nvSpPr>
          <p:cNvPr id="4" name="Text 2"/>
          <p:cNvSpPr/>
          <p:nvPr/>
        </p:nvSpPr>
        <p:spPr>
          <a:xfrm>
            <a:off x="8540496" y="329184"/>
            <a:ext cx="28803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PILLAR: ENERGY · CARBON</a:t>
            </a:r>
            <a:endParaRPr lang="en-US" sz="950" dirty="0"/>
          </a:p>
        </p:txBody>
      </p:sp>
      <p:sp>
        <p:nvSpPr>
          <p:cNvPr id="5" name="Text 3"/>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Make a retry cheaper than the first attempt</a:t>
            </a:r>
            <a:endParaRPr lang="en-US" sz="3200" dirty="0"/>
          </a:p>
        </p:txBody>
      </p:sp>
      <p:sp>
        <p:nvSpPr>
          <p:cNvPr id="6" name="Shape 4"/>
          <p:cNvSpPr/>
          <p:nvPr/>
        </p:nvSpPr>
        <p:spPr>
          <a:xfrm>
            <a:off x="658368" y="1920240"/>
            <a:ext cx="10872216" cy="2660904"/>
          </a:xfrm>
          <a:prstGeom prst="roundRect">
            <a:avLst>
              <a:gd name="adj" fmla="val 2749"/>
            </a:avLst>
          </a:prstGeom>
          <a:solidFill>
            <a:srgbClr val="FFFFFF"/>
          </a:solidFill>
          <a:ln w="12700">
            <a:solidFill>
              <a:srgbClr val="E2E8F0"/>
            </a:solidFill>
            <a:prstDash val="solid"/>
          </a:ln>
        </p:spPr>
      </p:sp>
      <p:sp>
        <p:nvSpPr>
          <p:cNvPr id="7" name="Text 5"/>
          <p:cNvSpPr/>
          <p:nvPr/>
        </p:nvSpPr>
        <p:spPr>
          <a:xfrm>
            <a:off x="1024128" y="2212848"/>
            <a:ext cx="1371600" cy="219456"/>
          </a:xfrm>
          <a:prstGeom prst="rect">
            <a:avLst/>
          </a:prstGeom>
          <a:noFill/>
          <a:ln/>
        </p:spPr>
        <p:txBody>
          <a:bodyPr wrap="square" lIns="0" tIns="0" rIns="0" bIns="0" rtlCol="0" anchor="ctr"/>
          <a:lstStyle/>
          <a:p>
            <a:pPr indent="0" marL="0">
              <a:buNone/>
            </a:pPr>
            <a:r>
              <a:rPr lang="en-US" sz="1000" b="1" spc="120" kern="0" dirty="0">
                <a:solidFill>
                  <a:srgbClr val="C2410C"/>
                </a:solidFill>
                <a:latin typeface="Calibri" pitchFamily="34" charset="0"/>
                <a:ea typeface="Calibri" pitchFamily="34" charset="-122"/>
                <a:cs typeface="Calibri" pitchFamily="34" charset="-120"/>
              </a:rPr>
              <a:t>PROBLEM</a:t>
            </a:r>
            <a:endParaRPr lang="en-US" sz="1000" dirty="0"/>
          </a:p>
        </p:txBody>
      </p:sp>
      <p:sp>
        <p:nvSpPr>
          <p:cNvPr id="8" name="Text 6"/>
          <p:cNvSpPr/>
          <p:nvPr/>
        </p:nvSpPr>
        <p:spPr>
          <a:xfrm>
            <a:off x="2468880" y="2185416"/>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Passes 2 and 3 re-issue identical queries and re-fetch identical URLs, paying full price for a known answer.</a:t>
            </a:r>
            <a:endParaRPr lang="en-US" sz="1350" dirty="0"/>
          </a:p>
        </p:txBody>
      </p:sp>
      <p:sp>
        <p:nvSpPr>
          <p:cNvPr id="9" name="Text 7"/>
          <p:cNvSpPr/>
          <p:nvPr/>
        </p:nvSpPr>
        <p:spPr>
          <a:xfrm>
            <a:off x="1024128" y="3054096"/>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CHANGE</a:t>
            </a:r>
            <a:endParaRPr lang="en-US" sz="1000" dirty="0"/>
          </a:p>
        </p:txBody>
      </p:sp>
      <p:sp>
        <p:nvSpPr>
          <p:cNvPr id="10" name="Text 8"/>
          <p:cNvSpPr/>
          <p:nvPr/>
        </p:nvSpPr>
        <p:spPr>
          <a:xfrm>
            <a:off x="2468880" y="3026664"/>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Cache search results and fetched page text for the life of one scan, keyed by query string and URL hash.</a:t>
            </a:r>
            <a:endParaRPr lang="en-US" sz="1350" dirty="0"/>
          </a:p>
        </p:txBody>
      </p:sp>
      <p:sp>
        <p:nvSpPr>
          <p:cNvPr id="11" name="Text 9"/>
          <p:cNvSpPr/>
          <p:nvPr/>
        </p:nvSpPr>
        <p:spPr>
          <a:xfrm>
            <a:off x="1024128" y="3895344"/>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WHY SAFE</a:t>
            </a:r>
            <a:endParaRPr lang="en-US" sz="1000" dirty="0"/>
          </a:p>
        </p:txBody>
      </p:sp>
      <p:sp>
        <p:nvSpPr>
          <p:cNvPr id="12" name="Text 10"/>
          <p:cNvSpPr/>
          <p:nvPr/>
        </p:nvSpPr>
        <p:spPr>
          <a:xfrm>
            <a:off x="2468880" y="3867912"/>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In-scan only. It dies with the scan, and does not reintroduce the cross-scan page retention removed for data protection.</a:t>
            </a:r>
            <a:endParaRPr lang="en-US" sz="1350" dirty="0"/>
          </a:p>
        </p:txBody>
      </p:sp>
      <p:sp>
        <p:nvSpPr>
          <p:cNvPr id="13" name="Shape 11"/>
          <p:cNvSpPr/>
          <p:nvPr/>
        </p:nvSpPr>
        <p:spPr>
          <a:xfrm>
            <a:off x="658368" y="4901184"/>
            <a:ext cx="10872216" cy="640080"/>
          </a:xfrm>
          <a:prstGeom prst="roundRect">
            <a:avLst>
              <a:gd name="adj" fmla="val 11429"/>
            </a:avLst>
          </a:prstGeom>
          <a:solidFill>
            <a:srgbClr val="0F172A"/>
          </a:solidFill>
          <a:ln w="12700">
            <a:solidFill>
              <a:srgbClr val="0F172A"/>
            </a:solidFill>
            <a:prstDash val="solid"/>
          </a:ln>
        </p:spPr>
      </p:sp>
      <p:sp>
        <p:nvSpPr>
          <p:cNvPr id="14" name="Text 12"/>
          <p:cNvSpPr/>
          <p:nvPr/>
        </p:nvSpPr>
        <p:spPr>
          <a:xfrm>
            <a:off x="978408" y="4901184"/>
            <a:ext cx="10232136"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Green Software Patterns — "Cache static data", applied within a request rather than at the edge.</a:t>
            </a:r>
            <a:endParaRPr lang="en-US" sz="1350" dirty="0"/>
          </a:p>
        </p:txBody>
      </p:sp>
      <p:sp>
        <p:nvSpPr>
          <p:cNvPr id="15" name="Text 13"/>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6" name="Text 14"/>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3657600"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IMPROVEMENT 02</a:t>
            </a:r>
            <a:endParaRPr lang="en-US" sz="1100" dirty="0"/>
          </a:p>
        </p:txBody>
      </p:sp>
      <p:sp>
        <p:nvSpPr>
          <p:cNvPr id="3" name="Shape 1"/>
          <p:cNvSpPr/>
          <p:nvPr/>
        </p:nvSpPr>
        <p:spPr>
          <a:xfrm>
            <a:off x="8430768" y="329184"/>
            <a:ext cx="3099816" cy="274320"/>
          </a:xfrm>
          <a:prstGeom prst="roundRect">
            <a:avLst>
              <a:gd name="adj" fmla="val 46667"/>
            </a:avLst>
          </a:prstGeom>
          <a:solidFill>
            <a:srgbClr val="F0FDFA"/>
          </a:solidFill>
          <a:ln w="12700">
            <a:solidFill>
              <a:srgbClr val="5EEAD4"/>
            </a:solidFill>
            <a:prstDash val="solid"/>
          </a:ln>
        </p:spPr>
      </p:sp>
      <p:sp>
        <p:nvSpPr>
          <p:cNvPr id="4" name="Text 2"/>
          <p:cNvSpPr/>
          <p:nvPr/>
        </p:nvSpPr>
        <p:spPr>
          <a:xfrm>
            <a:off x="8540496" y="329184"/>
            <a:ext cx="28803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PILLAR: ENERGY · CARBON</a:t>
            </a:r>
            <a:endParaRPr lang="en-US" sz="950" dirty="0"/>
          </a:p>
        </p:txBody>
      </p:sp>
      <p:sp>
        <p:nvSpPr>
          <p:cNvPr id="5" name="Text 3"/>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Stop sending every page to gpt-4o</a:t>
            </a:r>
            <a:endParaRPr lang="en-US" sz="3200" dirty="0"/>
          </a:p>
        </p:txBody>
      </p:sp>
      <p:sp>
        <p:nvSpPr>
          <p:cNvPr id="6" name="Shape 4"/>
          <p:cNvSpPr/>
          <p:nvPr/>
        </p:nvSpPr>
        <p:spPr>
          <a:xfrm>
            <a:off x="658368" y="1920240"/>
            <a:ext cx="10872216" cy="2660904"/>
          </a:xfrm>
          <a:prstGeom prst="roundRect">
            <a:avLst>
              <a:gd name="adj" fmla="val 2749"/>
            </a:avLst>
          </a:prstGeom>
          <a:solidFill>
            <a:srgbClr val="FFFFFF"/>
          </a:solidFill>
          <a:ln w="12700">
            <a:solidFill>
              <a:srgbClr val="E2E8F0"/>
            </a:solidFill>
            <a:prstDash val="solid"/>
          </a:ln>
        </p:spPr>
      </p:sp>
      <p:sp>
        <p:nvSpPr>
          <p:cNvPr id="7" name="Text 5"/>
          <p:cNvSpPr/>
          <p:nvPr/>
        </p:nvSpPr>
        <p:spPr>
          <a:xfrm>
            <a:off x="1024128" y="2212848"/>
            <a:ext cx="1371600" cy="219456"/>
          </a:xfrm>
          <a:prstGeom prst="rect">
            <a:avLst/>
          </a:prstGeom>
          <a:noFill/>
          <a:ln/>
        </p:spPr>
        <p:txBody>
          <a:bodyPr wrap="square" lIns="0" tIns="0" rIns="0" bIns="0" rtlCol="0" anchor="ctr"/>
          <a:lstStyle/>
          <a:p>
            <a:pPr indent="0" marL="0">
              <a:buNone/>
            </a:pPr>
            <a:r>
              <a:rPr lang="en-US" sz="1000" b="1" spc="120" kern="0" dirty="0">
                <a:solidFill>
                  <a:srgbClr val="C2410C"/>
                </a:solidFill>
                <a:latin typeface="Calibri" pitchFamily="34" charset="0"/>
                <a:ea typeface="Calibri" pitchFamily="34" charset="-122"/>
                <a:cs typeface="Calibri" pitchFamily="34" charset="-120"/>
              </a:rPr>
              <a:t>PROBLEM</a:t>
            </a:r>
            <a:endParaRPr lang="en-US" sz="1000" dirty="0"/>
          </a:p>
        </p:txBody>
      </p:sp>
      <p:sp>
        <p:nvSpPr>
          <p:cNvPr id="8" name="Text 6"/>
          <p:cNvSpPr/>
          <p:nvPr/>
        </p:nvSpPr>
        <p:spPr>
          <a:xfrm>
            <a:off x="2468880" y="2185416"/>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Extraction runs gpt-4o on all 12 pages per pass, whether or not a page plausibly mentions an AI system.</a:t>
            </a:r>
            <a:endParaRPr lang="en-US" sz="1350" dirty="0"/>
          </a:p>
        </p:txBody>
      </p:sp>
      <p:sp>
        <p:nvSpPr>
          <p:cNvPr id="9" name="Text 7"/>
          <p:cNvSpPr/>
          <p:nvPr/>
        </p:nvSpPr>
        <p:spPr>
          <a:xfrm>
            <a:off x="1024128" y="3054096"/>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CHANGE</a:t>
            </a:r>
            <a:endParaRPr lang="en-US" sz="1000" dirty="0"/>
          </a:p>
        </p:txBody>
      </p:sp>
      <p:sp>
        <p:nvSpPr>
          <p:cNvPr id="10" name="Text 8"/>
          <p:cNvSpPr/>
          <p:nvPr/>
        </p:nvSpPr>
        <p:spPr>
          <a:xfrm>
            <a:off x="2468880" y="3026664"/>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Cheap deterministic prefilter, then gpt-4o-mini triage, and escalate to gpt-4o only for pages that survive both.</a:t>
            </a:r>
            <a:endParaRPr lang="en-US" sz="1350" dirty="0"/>
          </a:p>
        </p:txBody>
      </p:sp>
      <p:sp>
        <p:nvSpPr>
          <p:cNvPr id="11" name="Text 9"/>
          <p:cNvSpPr/>
          <p:nvPr/>
        </p:nvSpPr>
        <p:spPr>
          <a:xfrm>
            <a:off x="1024128" y="3895344"/>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GUARDRAIL</a:t>
            </a:r>
            <a:endParaRPr lang="en-US" sz="1000" dirty="0"/>
          </a:p>
        </p:txBody>
      </p:sp>
      <p:sp>
        <p:nvSpPr>
          <p:cNvPr id="12" name="Text 10"/>
          <p:cNvSpPr/>
          <p:nvPr/>
        </p:nvSpPr>
        <p:spPr>
          <a:xfrm>
            <a:off x="2468880" y="3867912"/>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Pair the downgrade with a sample evaluation on the existing 12-company ground truth. No blind model downgrade.</a:t>
            </a:r>
            <a:endParaRPr lang="en-US" sz="1350" dirty="0"/>
          </a:p>
        </p:txBody>
      </p:sp>
      <p:sp>
        <p:nvSpPr>
          <p:cNvPr id="13" name="Shape 11"/>
          <p:cNvSpPr/>
          <p:nvPr/>
        </p:nvSpPr>
        <p:spPr>
          <a:xfrm>
            <a:off x="658368" y="4901184"/>
            <a:ext cx="10872216" cy="640080"/>
          </a:xfrm>
          <a:prstGeom prst="roundRect">
            <a:avLst>
              <a:gd name="adj" fmla="val 11429"/>
            </a:avLst>
          </a:prstGeom>
          <a:solidFill>
            <a:srgbClr val="0F172A"/>
          </a:solidFill>
          <a:ln w="12700">
            <a:solidFill>
              <a:srgbClr val="0F172A"/>
            </a:solidFill>
            <a:prstDash val="solid"/>
          </a:ln>
        </p:spPr>
      </p:sp>
      <p:sp>
        <p:nvSpPr>
          <p:cNvPr id="14" name="Text 12"/>
          <p:cNvSpPr/>
          <p:nvPr/>
        </p:nvSpPr>
        <p:spPr>
          <a:xfrm>
            <a:off x="978408" y="4901184"/>
            <a:ext cx="10232136"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single largest cost line per R — and the eval harness needed to prove it is safe already exists.</a:t>
            </a:r>
            <a:endParaRPr lang="en-US" sz="1350" dirty="0"/>
          </a:p>
        </p:txBody>
      </p:sp>
      <p:sp>
        <p:nvSpPr>
          <p:cNvPr id="15" name="Text 13"/>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6" name="Text 14"/>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3657600"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IMPROVEMENT 03</a:t>
            </a:r>
            <a:endParaRPr lang="en-US" sz="1100" dirty="0"/>
          </a:p>
        </p:txBody>
      </p:sp>
      <p:sp>
        <p:nvSpPr>
          <p:cNvPr id="3" name="Shape 1"/>
          <p:cNvSpPr/>
          <p:nvPr/>
        </p:nvSpPr>
        <p:spPr>
          <a:xfrm>
            <a:off x="8430768" y="329184"/>
            <a:ext cx="3099816" cy="274320"/>
          </a:xfrm>
          <a:prstGeom prst="roundRect">
            <a:avLst>
              <a:gd name="adj" fmla="val 46667"/>
            </a:avLst>
          </a:prstGeom>
          <a:solidFill>
            <a:srgbClr val="F0FDFA"/>
          </a:solidFill>
          <a:ln w="12700">
            <a:solidFill>
              <a:srgbClr val="5EEAD4"/>
            </a:solidFill>
            <a:prstDash val="solid"/>
          </a:ln>
        </p:spPr>
      </p:sp>
      <p:sp>
        <p:nvSpPr>
          <p:cNvPr id="4" name="Text 2"/>
          <p:cNvSpPr/>
          <p:nvPr/>
        </p:nvSpPr>
        <p:spPr>
          <a:xfrm>
            <a:off x="8540496" y="329184"/>
            <a:ext cx="28803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PILLAR: HARDWARE · ENERGY</a:t>
            </a:r>
            <a:endParaRPr lang="en-US" sz="950" dirty="0"/>
          </a:p>
        </p:txBody>
      </p:sp>
      <p:sp>
        <p:nvSpPr>
          <p:cNvPr id="5" name="Text 3"/>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Delete the write path with no reader</a:t>
            </a:r>
            <a:endParaRPr lang="en-US" sz="3200" dirty="0"/>
          </a:p>
        </p:txBody>
      </p:sp>
      <p:sp>
        <p:nvSpPr>
          <p:cNvPr id="6" name="Shape 4"/>
          <p:cNvSpPr/>
          <p:nvPr/>
        </p:nvSpPr>
        <p:spPr>
          <a:xfrm>
            <a:off x="658368" y="1920240"/>
            <a:ext cx="10872216" cy="2660904"/>
          </a:xfrm>
          <a:prstGeom prst="roundRect">
            <a:avLst>
              <a:gd name="adj" fmla="val 2749"/>
            </a:avLst>
          </a:prstGeom>
          <a:solidFill>
            <a:srgbClr val="FFFFFF"/>
          </a:solidFill>
          <a:ln w="12700">
            <a:solidFill>
              <a:srgbClr val="E2E8F0"/>
            </a:solidFill>
            <a:prstDash val="solid"/>
          </a:ln>
        </p:spPr>
      </p:sp>
      <p:sp>
        <p:nvSpPr>
          <p:cNvPr id="7" name="Text 5"/>
          <p:cNvSpPr/>
          <p:nvPr/>
        </p:nvSpPr>
        <p:spPr>
          <a:xfrm>
            <a:off x="1024128" y="2212848"/>
            <a:ext cx="1371600" cy="219456"/>
          </a:xfrm>
          <a:prstGeom prst="rect">
            <a:avLst/>
          </a:prstGeom>
          <a:noFill/>
          <a:ln/>
        </p:spPr>
        <p:txBody>
          <a:bodyPr wrap="square" lIns="0" tIns="0" rIns="0" bIns="0" rtlCol="0" anchor="ctr"/>
          <a:lstStyle/>
          <a:p>
            <a:pPr indent="0" marL="0">
              <a:buNone/>
            </a:pPr>
            <a:r>
              <a:rPr lang="en-US" sz="1000" b="1" spc="120" kern="0" dirty="0">
                <a:solidFill>
                  <a:srgbClr val="C2410C"/>
                </a:solidFill>
                <a:latin typeface="Calibri" pitchFamily="34" charset="0"/>
                <a:ea typeface="Calibri" pitchFamily="34" charset="-122"/>
                <a:cs typeface="Calibri" pitchFamily="34" charset="-120"/>
              </a:rPr>
              <a:t>PROBLEM</a:t>
            </a:r>
            <a:endParaRPr lang="en-US" sz="1000" dirty="0"/>
          </a:p>
        </p:txBody>
      </p:sp>
      <p:sp>
        <p:nvSpPr>
          <p:cNvPr id="8" name="Text 6"/>
          <p:cNvSpPr/>
          <p:nvPr/>
        </p:nvSpPr>
        <p:spPr>
          <a:xfrm>
            <a:off x="2468880" y="2185416"/>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Every validated passage is embedded and upserted to Pinecone — and store.query has no caller. The read side does not exist.</a:t>
            </a:r>
            <a:endParaRPr lang="en-US" sz="1350" dirty="0"/>
          </a:p>
        </p:txBody>
      </p:sp>
      <p:sp>
        <p:nvSpPr>
          <p:cNvPr id="9" name="Text 7"/>
          <p:cNvSpPr/>
          <p:nvPr/>
        </p:nvSpPr>
        <p:spPr>
          <a:xfrm>
            <a:off x="1024128" y="3054096"/>
            <a:ext cx="1371600" cy="219456"/>
          </a:xfrm>
          <a:prstGeom prst="rect">
            <a:avLst/>
          </a:prstGeom>
          <a:noFill/>
          <a:ln/>
        </p:spPr>
        <p:txBody>
          <a:bodyPr wrap="square" lIns="0" tIns="0" rIns="0" bIns="0" rtlCol="0" anchor="ctr"/>
          <a:lstStyle/>
          <a:p>
            <a:pPr indent="0" marL="0">
              <a:buNone/>
            </a:pPr>
            <a:r>
              <a:rPr lang="en-US" sz="1000" b="1" spc="120" kern="0" dirty="0">
                <a:solidFill>
                  <a:srgbClr val="C2410C"/>
                </a:solidFill>
                <a:latin typeface="Calibri" pitchFamily="34" charset="0"/>
                <a:ea typeface="Calibri" pitchFamily="34" charset="-122"/>
                <a:cs typeface="Calibri" pitchFamily="34" charset="-120"/>
              </a:rPr>
              <a:t>PROBLEM</a:t>
            </a:r>
            <a:endParaRPr lang="en-US" sz="1000" dirty="0"/>
          </a:p>
        </p:txBody>
      </p:sp>
      <p:sp>
        <p:nvSpPr>
          <p:cNvPr id="10" name="Text 8"/>
          <p:cNvSpPr/>
          <p:nvPr/>
        </p:nvSpPr>
        <p:spPr>
          <a:xfrm>
            <a:off x="2468880" y="3026664"/>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The vendor namespace has a schema and no writer, so index capacity is provisioned for data that never arrives.</a:t>
            </a:r>
            <a:endParaRPr lang="en-US" sz="1350" dirty="0"/>
          </a:p>
        </p:txBody>
      </p:sp>
      <p:sp>
        <p:nvSpPr>
          <p:cNvPr id="11" name="Text 9"/>
          <p:cNvSpPr/>
          <p:nvPr/>
        </p:nvSpPr>
        <p:spPr>
          <a:xfrm>
            <a:off x="1024128" y="3895344"/>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CHANGE</a:t>
            </a:r>
            <a:endParaRPr lang="en-US" sz="1000" dirty="0"/>
          </a:p>
        </p:txBody>
      </p:sp>
      <p:sp>
        <p:nvSpPr>
          <p:cNvPr id="12" name="Text 10"/>
          <p:cNvSpPr/>
          <p:nvPr/>
        </p:nvSpPr>
        <p:spPr>
          <a:xfrm>
            <a:off x="2468880" y="3867912"/>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Either build the reader that justifies the write, or stop writing until the feature that needs it is real.</a:t>
            </a:r>
            <a:endParaRPr lang="en-US" sz="1350" dirty="0"/>
          </a:p>
        </p:txBody>
      </p:sp>
      <p:sp>
        <p:nvSpPr>
          <p:cNvPr id="13" name="Shape 11"/>
          <p:cNvSpPr/>
          <p:nvPr/>
        </p:nvSpPr>
        <p:spPr>
          <a:xfrm>
            <a:off x="658368" y="4901184"/>
            <a:ext cx="10872216" cy="640080"/>
          </a:xfrm>
          <a:prstGeom prst="roundRect">
            <a:avLst>
              <a:gd name="adj" fmla="val 11429"/>
            </a:avLst>
          </a:prstGeom>
          <a:solidFill>
            <a:srgbClr val="0F172A"/>
          </a:solidFill>
          <a:ln w="12700">
            <a:solidFill>
              <a:srgbClr val="0F172A"/>
            </a:solidFill>
            <a:prstDash val="solid"/>
          </a:ln>
        </p:spPr>
      </p:sp>
      <p:sp>
        <p:nvSpPr>
          <p:cNvPr id="14" name="Text 12"/>
          <p:cNvSpPr/>
          <p:nvPr/>
        </p:nvSpPr>
        <p:spPr>
          <a:xfrm>
            <a:off x="978408" y="4901184"/>
            <a:ext cx="10232136"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This is embodied carbon, not runtime: an index costs hardware whether or not anything queries it.</a:t>
            </a:r>
            <a:endParaRPr lang="en-US" sz="1350" dirty="0"/>
          </a:p>
        </p:txBody>
      </p:sp>
      <p:sp>
        <p:nvSpPr>
          <p:cNvPr id="15" name="Text 13"/>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6" name="Text 14"/>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3657600"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IMPROVEMENT 04</a:t>
            </a:r>
            <a:endParaRPr lang="en-US" sz="1100" dirty="0"/>
          </a:p>
        </p:txBody>
      </p:sp>
      <p:sp>
        <p:nvSpPr>
          <p:cNvPr id="3" name="Shape 1"/>
          <p:cNvSpPr/>
          <p:nvPr/>
        </p:nvSpPr>
        <p:spPr>
          <a:xfrm>
            <a:off x="8430768" y="329184"/>
            <a:ext cx="3099816" cy="274320"/>
          </a:xfrm>
          <a:prstGeom prst="roundRect">
            <a:avLst>
              <a:gd name="adj" fmla="val 46667"/>
            </a:avLst>
          </a:prstGeom>
          <a:solidFill>
            <a:srgbClr val="F0FDFA"/>
          </a:solidFill>
          <a:ln w="12700">
            <a:solidFill>
              <a:srgbClr val="5EEAD4"/>
            </a:solidFill>
            <a:prstDash val="solid"/>
          </a:ln>
        </p:spPr>
      </p:sp>
      <p:sp>
        <p:nvSpPr>
          <p:cNvPr id="4" name="Text 2"/>
          <p:cNvSpPr/>
          <p:nvPr/>
        </p:nvSpPr>
        <p:spPr>
          <a:xfrm>
            <a:off x="8540496" y="329184"/>
            <a:ext cx="28803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PILLAR: ENERGY · MEASUREMENT</a:t>
            </a:r>
            <a:endParaRPr lang="en-US" sz="950" dirty="0"/>
          </a:p>
        </p:txBody>
      </p:sp>
      <p:sp>
        <p:nvSpPr>
          <p:cNvPr id="5" name="Text 3"/>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Keep what pass 1 already proved</a:t>
            </a:r>
            <a:endParaRPr lang="en-US" sz="3200" dirty="0"/>
          </a:p>
        </p:txBody>
      </p:sp>
      <p:sp>
        <p:nvSpPr>
          <p:cNvPr id="6" name="Shape 4"/>
          <p:cNvSpPr/>
          <p:nvPr/>
        </p:nvSpPr>
        <p:spPr>
          <a:xfrm>
            <a:off x="658368" y="1920240"/>
            <a:ext cx="10872216" cy="2660904"/>
          </a:xfrm>
          <a:prstGeom prst="roundRect">
            <a:avLst>
              <a:gd name="adj" fmla="val 2749"/>
            </a:avLst>
          </a:prstGeom>
          <a:solidFill>
            <a:srgbClr val="FFFFFF"/>
          </a:solidFill>
          <a:ln w="12700">
            <a:solidFill>
              <a:srgbClr val="E2E8F0"/>
            </a:solidFill>
            <a:prstDash val="solid"/>
          </a:ln>
        </p:spPr>
      </p:sp>
      <p:sp>
        <p:nvSpPr>
          <p:cNvPr id="7" name="Text 5"/>
          <p:cNvSpPr/>
          <p:nvPr/>
        </p:nvSpPr>
        <p:spPr>
          <a:xfrm>
            <a:off x="1024128" y="2212848"/>
            <a:ext cx="1371600" cy="219456"/>
          </a:xfrm>
          <a:prstGeom prst="rect">
            <a:avLst/>
          </a:prstGeom>
          <a:noFill/>
          <a:ln/>
        </p:spPr>
        <p:txBody>
          <a:bodyPr wrap="square" lIns="0" tIns="0" rIns="0" bIns="0" rtlCol="0" anchor="ctr"/>
          <a:lstStyle/>
          <a:p>
            <a:pPr indent="0" marL="0">
              <a:buNone/>
            </a:pPr>
            <a:r>
              <a:rPr lang="en-US" sz="1000" b="1" spc="120" kern="0" dirty="0">
                <a:solidFill>
                  <a:srgbClr val="C2410C"/>
                </a:solidFill>
                <a:latin typeface="Calibri" pitchFamily="34" charset="0"/>
                <a:ea typeface="Calibri" pitchFamily="34" charset="-122"/>
                <a:cs typeface="Calibri" pitchFamily="34" charset="-120"/>
              </a:rPr>
              <a:t>PROBLEM</a:t>
            </a:r>
            <a:endParaRPr lang="en-US" sz="1000" dirty="0"/>
          </a:p>
        </p:txBody>
      </p:sp>
      <p:sp>
        <p:nvSpPr>
          <p:cNvPr id="8" name="Text 6"/>
          <p:cNvSpPr/>
          <p:nvPr/>
        </p:nvSpPr>
        <p:spPr>
          <a:xfrm>
            <a:off x="2468880" y="2185416"/>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Findings are replaced per pass rather than accumulated, so proven work is discarded and then re-derived.</a:t>
            </a:r>
            <a:endParaRPr lang="en-US" sz="1350" dirty="0"/>
          </a:p>
        </p:txBody>
      </p:sp>
      <p:sp>
        <p:nvSpPr>
          <p:cNvPr id="9" name="Text 7"/>
          <p:cNvSpPr/>
          <p:nvPr/>
        </p:nvSpPr>
        <p:spPr>
          <a:xfrm>
            <a:off x="1024128" y="3054096"/>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CHANGE</a:t>
            </a:r>
            <a:endParaRPr lang="en-US" sz="1000" dirty="0"/>
          </a:p>
        </p:txBody>
      </p:sp>
      <p:sp>
        <p:nvSpPr>
          <p:cNvPr id="10" name="Text 8"/>
          <p:cNvSpPr/>
          <p:nvPr/>
        </p:nvSpPr>
        <p:spPr>
          <a:xfrm>
            <a:off x="2468880" y="3026664"/>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Accumulate findings across passes and exit as soon as the gate has enough evidence, instead of always spending the pass budget.</a:t>
            </a:r>
            <a:endParaRPr lang="en-US" sz="1350" dirty="0"/>
          </a:p>
        </p:txBody>
      </p:sp>
      <p:sp>
        <p:nvSpPr>
          <p:cNvPr id="11" name="Text 9"/>
          <p:cNvSpPr/>
          <p:nvPr/>
        </p:nvSpPr>
        <p:spPr>
          <a:xfrm>
            <a:off x="1024128" y="3895344"/>
            <a:ext cx="1371600" cy="219456"/>
          </a:xfrm>
          <a:prstGeom prst="rect">
            <a:avLst/>
          </a:prstGeom>
          <a:noFill/>
          <a:ln/>
        </p:spPr>
        <p:txBody>
          <a:bodyPr wrap="square" lIns="0" tIns="0" rIns="0" bIns="0" rtlCol="0" anchor="ctr"/>
          <a:lstStyle/>
          <a:p>
            <a:pPr indent="0" marL="0">
              <a:buNone/>
            </a:pPr>
            <a:r>
              <a:rPr lang="en-US" sz="1000" b="1" spc="120" kern="0" dirty="0">
                <a:solidFill>
                  <a:srgbClr val="0F766E"/>
                </a:solidFill>
                <a:latin typeface="Calibri" pitchFamily="34" charset="0"/>
                <a:ea typeface="Calibri" pitchFamily="34" charset="-122"/>
                <a:cs typeface="Calibri" pitchFamily="34" charset="-120"/>
              </a:rPr>
              <a:t>BONUS</a:t>
            </a:r>
            <a:endParaRPr lang="en-US" sz="1000" dirty="0"/>
          </a:p>
        </p:txBody>
      </p:sp>
      <p:sp>
        <p:nvSpPr>
          <p:cNvPr id="12" name="Text 10"/>
          <p:cNvSpPr/>
          <p:nvPr/>
        </p:nvSpPr>
        <p:spPr>
          <a:xfrm>
            <a:off x="2468880" y="3867912"/>
            <a:ext cx="8695944" cy="45720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This also fixes a correctness defect already recorded in LESSONS.md — a finding lost because a later pass did not re-find it.</a:t>
            </a:r>
            <a:endParaRPr lang="en-US" sz="1350" dirty="0"/>
          </a:p>
        </p:txBody>
      </p:sp>
      <p:sp>
        <p:nvSpPr>
          <p:cNvPr id="13" name="Shape 11"/>
          <p:cNvSpPr/>
          <p:nvPr/>
        </p:nvSpPr>
        <p:spPr>
          <a:xfrm>
            <a:off x="658368" y="4901184"/>
            <a:ext cx="10872216" cy="640080"/>
          </a:xfrm>
          <a:prstGeom prst="roundRect">
            <a:avLst>
              <a:gd name="adj" fmla="val 11429"/>
            </a:avLst>
          </a:prstGeom>
          <a:solidFill>
            <a:srgbClr val="0F172A"/>
          </a:solidFill>
          <a:ln w="12700">
            <a:solidFill>
              <a:srgbClr val="0F172A"/>
            </a:solidFill>
            <a:prstDash val="solid"/>
          </a:ln>
        </p:spPr>
      </p:sp>
      <p:sp>
        <p:nvSpPr>
          <p:cNvPr id="14" name="Text 12"/>
          <p:cNvSpPr/>
          <p:nvPr/>
        </p:nvSpPr>
        <p:spPr>
          <a:xfrm>
            <a:off x="978408" y="4901184"/>
            <a:ext cx="10232136" cy="640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greenest version of this system is the one that stops early. It is also the more accurate one.</a:t>
            </a:r>
            <a:endParaRPr lang="en-US" sz="1350" dirty="0"/>
          </a:p>
        </p:txBody>
      </p:sp>
      <p:sp>
        <p:nvSpPr>
          <p:cNvPr id="15" name="Text 13"/>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6" name="Text 14"/>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PILLAR: MEASUREMENT</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What I would track for two weeks</a:t>
            </a:r>
            <a:endParaRPr lang="en-US" sz="3200" dirty="0"/>
          </a:p>
        </p:txBody>
      </p:sp>
      <p:sp>
        <p:nvSpPr>
          <p:cNvPr id="4" name="Shape 2"/>
          <p:cNvSpPr/>
          <p:nvPr/>
        </p:nvSpPr>
        <p:spPr>
          <a:xfrm>
            <a:off x="658368" y="1965960"/>
            <a:ext cx="10872216" cy="603504"/>
          </a:xfrm>
          <a:prstGeom prst="rect">
            <a:avLst/>
          </a:prstGeom>
          <a:solidFill>
            <a:srgbClr val="FFFFFF"/>
          </a:solidFill>
          <a:ln/>
        </p:spPr>
      </p:sp>
      <p:sp>
        <p:nvSpPr>
          <p:cNvPr id="5" name="Text 3"/>
          <p:cNvSpPr/>
          <p:nvPr/>
        </p:nvSpPr>
        <p:spPr>
          <a:xfrm>
            <a:off x="932688" y="2002536"/>
            <a:ext cx="4023360" cy="256032"/>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Duplicate query rate per R</a:t>
            </a:r>
            <a:endParaRPr lang="en-US" sz="1350" dirty="0"/>
          </a:p>
        </p:txBody>
      </p:sp>
      <p:sp>
        <p:nvSpPr>
          <p:cNvPr id="6" name="Text 4"/>
          <p:cNvSpPr/>
          <p:nvPr/>
        </p:nvSpPr>
        <p:spPr>
          <a:xfrm>
            <a:off x="932688" y="2267712"/>
            <a:ext cx="6949440" cy="256032"/>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identical queries issued more than once in one scan</a:t>
            </a:r>
            <a:endParaRPr lang="en-US" sz="1150" dirty="0"/>
          </a:p>
        </p:txBody>
      </p:sp>
      <p:sp>
        <p:nvSpPr>
          <p:cNvPr id="7" name="Shape 5"/>
          <p:cNvSpPr/>
          <p:nvPr/>
        </p:nvSpPr>
        <p:spPr>
          <a:xfrm>
            <a:off x="9802368" y="2130552"/>
            <a:ext cx="1728216" cy="274320"/>
          </a:xfrm>
          <a:prstGeom prst="roundRect">
            <a:avLst>
              <a:gd name="adj" fmla="val 46667"/>
            </a:avLst>
          </a:prstGeom>
          <a:solidFill>
            <a:srgbClr val="F0FDFA"/>
          </a:solidFill>
          <a:ln w="12700">
            <a:solidFill>
              <a:srgbClr val="5EEAD4"/>
            </a:solidFill>
            <a:prstDash val="solid"/>
          </a:ln>
        </p:spPr>
      </p:sp>
      <p:sp>
        <p:nvSpPr>
          <p:cNvPr id="8" name="Text 6"/>
          <p:cNvSpPr/>
          <p:nvPr/>
        </p:nvSpPr>
        <p:spPr>
          <a:xfrm>
            <a:off x="9912096" y="2130552"/>
            <a:ext cx="15087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zero</a:t>
            </a:r>
            <a:endParaRPr lang="en-US" sz="950" dirty="0"/>
          </a:p>
        </p:txBody>
      </p:sp>
      <p:sp>
        <p:nvSpPr>
          <p:cNvPr id="9" name="Text 7"/>
          <p:cNvSpPr/>
          <p:nvPr/>
        </p:nvSpPr>
        <p:spPr>
          <a:xfrm>
            <a:off x="932688" y="2660904"/>
            <a:ext cx="4023360" cy="256032"/>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gpt-4o calls and tokens per R</a:t>
            </a:r>
            <a:endParaRPr lang="en-US" sz="1350" dirty="0"/>
          </a:p>
        </p:txBody>
      </p:sp>
      <p:sp>
        <p:nvSpPr>
          <p:cNvPr id="10" name="Text 8"/>
          <p:cNvSpPr/>
          <p:nvPr/>
        </p:nvSpPr>
        <p:spPr>
          <a:xfrm>
            <a:off x="932688" y="2926080"/>
            <a:ext cx="6949440" cy="256032"/>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split by pass, so triage can be proved rather than asserted</a:t>
            </a:r>
            <a:endParaRPr lang="en-US" sz="1150" dirty="0"/>
          </a:p>
        </p:txBody>
      </p:sp>
      <p:sp>
        <p:nvSpPr>
          <p:cNvPr id="11" name="Shape 9"/>
          <p:cNvSpPr/>
          <p:nvPr/>
        </p:nvSpPr>
        <p:spPr>
          <a:xfrm>
            <a:off x="9802368" y="2788920"/>
            <a:ext cx="1728216" cy="274320"/>
          </a:xfrm>
          <a:prstGeom prst="roundRect">
            <a:avLst>
              <a:gd name="adj" fmla="val 46667"/>
            </a:avLst>
          </a:prstGeom>
          <a:solidFill>
            <a:srgbClr val="F0FDFA"/>
          </a:solidFill>
          <a:ln w="12700">
            <a:solidFill>
              <a:srgbClr val="5EEAD4"/>
            </a:solidFill>
            <a:prstDash val="solid"/>
          </a:ln>
        </p:spPr>
      </p:sp>
      <p:sp>
        <p:nvSpPr>
          <p:cNvPr id="12" name="Text 10"/>
          <p:cNvSpPr/>
          <p:nvPr/>
        </p:nvSpPr>
        <p:spPr>
          <a:xfrm>
            <a:off x="9912096" y="2788920"/>
            <a:ext cx="15087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down by half</a:t>
            </a:r>
            <a:endParaRPr lang="en-US" sz="950" dirty="0"/>
          </a:p>
        </p:txBody>
      </p:sp>
      <p:sp>
        <p:nvSpPr>
          <p:cNvPr id="13" name="Shape 11"/>
          <p:cNvSpPr/>
          <p:nvPr/>
        </p:nvSpPr>
        <p:spPr>
          <a:xfrm>
            <a:off x="658368" y="3282696"/>
            <a:ext cx="10872216" cy="603504"/>
          </a:xfrm>
          <a:prstGeom prst="rect">
            <a:avLst/>
          </a:prstGeom>
          <a:solidFill>
            <a:srgbClr val="FFFFFF"/>
          </a:solidFill>
          <a:ln/>
        </p:spPr>
      </p:sp>
      <p:sp>
        <p:nvSpPr>
          <p:cNvPr id="14" name="Text 12"/>
          <p:cNvSpPr/>
          <p:nvPr/>
        </p:nvSpPr>
        <p:spPr>
          <a:xfrm>
            <a:off x="932688" y="3319272"/>
            <a:ext cx="4023360" cy="256032"/>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Cost per R  ·  seconds per R</a:t>
            </a:r>
            <a:endParaRPr lang="en-US" sz="1350" dirty="0"/>
          </a:p>
        </p:txBody>
      </p:sp>
      <p:sp>
        <p:nvSpPr>
          <p:cNvPr id="15" name="Text 13"/>
          <p:cNvSpPr/>
          <p:nvPr/>
        </p:nvSpPr>
        <p:spPr>
          <a:xfrm>
            <a:off x="932688" y="3584448"/>
            <a:ext cx="6949440" cy="256032"/>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energy proxies — correlated with energy, not energy</a:t>
            </a:r>
            <a:endParaRPr lang="en-US" sz="1150" dirty="0"/>
          </a:p>
        </p:txBody>
      </p:sp>
      <p:sp>
        <p:nvSpPr>
          <p:cNvPr id="16" name="Shape 14"/>
          <p:cNvSpPr/>
          <p:nvPr/>
        </p:nvSpPr>
        <p:spPr>
          <a:xfrm>
            <a:off x="9802368" y="3447288"/>
            <a:ext cx="1728216" cy="274320"/>
          </a:xfrm>
          <a:prstGeom prst="roundRect">
            <a:avLst>
              <a:gd name="adj" fmla="val 46667"/>
            </a:avLst>
          </a:prstGeom>
          <a:solidFill>
            <a:srgbClr val="F0FDFA"/>
          </a:solidFill>
          <a:ln w="12700">
            <a:solidFill>
              <a:srgbClr val="5EEAD4"/>
            </a:solidFill>
            <a:prstDash val="solid"/>
          </a:ln>
        </p:spPr>
      </p:sp>
      <p:sp>
        <p:nvSpPr>
          <p:cNvPr id="17" name="Text 15"/>
          <p:cNvSpPr/>
          <p:nvPr/>
        </p:nvSpPr>
        <p:spPr>
          <a:xfrm>
            <a:off x="9912096" y="3447288"/>
            <a:ext cx="15087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trend down</a:t>
            </a:r>
            <a:endParaRPr lang="en-US" sz="950" dirty="0"/>
          </a:p>
        </p:txBody>
      </p:sp>
      <p:sp>
        <p:nvSpPr>
          <p:cNvPr id="18" name="Text 16"/>
          <p:cNvSpPr/>
          <p:nvPr/>
        </p:nvSpPr>
        <p:spPr>
          <a:xfrm>
            <a:off x="932688" y="3977640"/>
            <a:ext cx="4023360" cy="256032"/>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Passes used per R</a:t>
            </a:r>
            <a:endParaRPr lang="en-US" sz="1350" dirty="0"/>
          </a:p>
        </p:txBody>
      </p:sp>
      <p:sp>
        <p:nvSpPr>
          <p:cNvPr id="19" name="Text 17"/>
          <p:cNvSpPr/>
          <p:nvPr/>
        </p:nvSpPr>
        <p:spPr>
          <a:xfrm>
            <a:off x="932688" y="4242816"/>
            <a:ext cx="6949440" cy="256032"/>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how often production actually reaches the pass-3 budget</a:t>
            </a:r>
            <a:endParaRPr lang="en-US" sz="1150" dirty="0"/>
          </a:p>
        </p:txBody>
      </p:sp>
      <p:sp>
        <p:nvSpPr>
          <p:cNvPr id="20" name="Shape 18"/>
          <p:cNvSpPr/>
          <p:nvPr/>
        </p:nvSpPr>
        <p:spPr>
          <a:xfrm>
            <a:off x="9802368" y="4105656"/>
            <a:ext cx="1728216" cy="274320"/>
          </a:xfrm>
          <a:prstGeom prst="roundRect">
            <a:avLst>
              <a:gd name="adj" fmla="val 46667"/>
            </a:avLst>
          </a:prstGeom>
          <a:solidFill>
            <a:srgbClr val="F0FDFA"/>
          </a:solidFill>
          <a:ln w="12700">
            <a:solidFill>
              <a:srgbClr val="5EEAD4"/>
            </a:solidFill>
            <a:prstDash val="solid"/>
          </a:ln>
        </p:spPr>
      </p:sp>
      <p:sp>
        <p:nvSpPr>
          <p:cNvPr id="21" name="Text 19"/>
          <p:cNvSpPr/>
          <p:nvPr/>
        </p:nvSpPr>
        <p:spPr>
          <a:xfrm>
            <a:off x="9912096" y="4105656"/>
            <a:ext cx="15087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learn it</a:t>
            </a:r>
            <a:endParaRPr lang="en-US" sz="950" dirty="0"/>
          </a:p>
        </p:txBody>
      </p:sp>
      <p:sp>
        <p:nvSpPr>
          <p:cNvPr id="22" name="Shape 20"/>
          <p:cNvSpPr/>
          <p:nvPr/>
        </p:nvSpPr>
        <p:spPr>
          <a:xfrm>
            <a:off x="658368" y="4599432"/>
            <a:ext cx="10872216" cy="603504"/>
          </a:xfrm>
          <a:prstGeom prst="rect">
            <a:avLst/>
          </a:prstGeom>
          <a:solidFill>
            <a:srgbClr val="FFFFFF"/>
          </a:solidFill>
          <a:ln/>
        </p:spPr>
      </p:sp>
      <p:sp>
        <p:nvSpPr>
          <p:cNvPr id="23" name="Text 21"/>
          <p:cNvSpPr/>
          <p:nvPr/>
        </p:nvSpPr>
        <p:spPr>
          <a:xfrm>
            <a:off x="932688" y="4636008"/>
            <a:ext cx="4023360" cy="256032"/>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Pinecone vectors vs reads</a:t>
            </a:r>
            <a:endParaRPr lang="en-US" sz="1350" dirty="0"/>
          </a:p>
        </p:txBody>
      </p:sp>
      <p:sp>
        <p:nvSpPr>
          <p:cNvPr id="24" name="Text 22"/>
          <p:cNvSpPr/>
          <p:nvPr/>
        </p:nvSpPr>
        <p:spPr>
          <a:xfrm>
            <a:off x="932688" y="4901184"/>
            <a:ext cx="6949440" cy="256032"/>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 read count that stays at zero is the evidence for improvement 03</a:t>
            </a:r>
            <a:endParaRPr lang="en-US" sz="1150" dirty="0"/>
          </a:p>
        </p:txBody>
      </p:sp>
      <p:sp>
        <p:nvSpPr>
          <p:cNvPr id="25" name="Shape 23"/>
          <p:cNvSpPr/>
          <p:nvPr/>
        </p:nvSpPr>
        <p:spPr>
          <a:xfrm>
            <a:off x="9802368" y="4764024"/>
            <a:ext cx="1728216" cy="274320"/>
          </a:xfrm>
          <a:prstGeom prst="roundRect">
            <a:avLst>
              <a:gd name="adj" fmla="val 46667"/>
            </a:avLst>
          </a:prstGeom>
          <a:solidFill>
            <a:srgbClr val="F0FDFA"/>
          </a:solidFill>
          <a:ln w="12700">
            <a:solidFill>
              <a:srgbClr val="5EEAD4"/>
            </a:solidFill>
            <a:prstDash val="solid"/>
          </a:ln>
        </p:spPr>
      </p:sp>
      <p:sp>
        <p:nvSpPr>
          <p:cNvPr id="26" name="Text 24"/>
          <p:cNvSpPr/>
          <p:nvPr/>
        </p:nvSpPr>
        <p:spPr>
          <a:xfrm>
            <a:off x="9912096" y="4764024"/>
            <a:ext cx="1508760" cy="274320"/>
          </a:xfrm>
          <a:prstGeom prst="rect">
            <a:avLst/>
          </a:prstGeom>
          <a:noFill/>
          <a:ln/>
        </p:spPr>
        <p:txBody>
          <a:bodyPr wrap="square" lIns="0" tIns="0" rIns="0" bIns="0" rtlCol="0" anchor="ctr"/>
          <a:lstStyle/>
          <a:p>
            <a:pPr algn="ctr" indent="0" marL="0">
              <a:buNone/>
            </a:pPr>
            <a:r>
              <a:rPr lang="en-US" sz="950" b="1" spc="100" kern="0" dirty="0">
                <a:solidFill>
                  <a:srgbClr val="0F766E"/>
                </a:solidFill>
                <a:latin typeface="Calibri" pitchFamily="34" charset="0"/>
                <a:ea typeface="Calibri" pitchFamily="34" charset="-122"/>
                <a:cs typeface="Calibri" pitchFamily="34" charset="-120"/>
              </a:rPr>
              <a:t>reads = 0</a:t>
            </a:r>
            <a:endParaRPr lang="en-US" sz="950" dirty="0"/>
          </a:p>
        </p:txBody>
      </p:sp>
      <p:sp>
        <p:nvSpPr>
          <p:cNvPr id="27" name="Shape 25"/>
          <p:cNvSpPr/>
          <p:nvPr/>
        </p:nvSpPr>
        <p:spPr>
          <a:xfrm>
            <a:off x="658368" y="5349240"/>
            <a:ext cx="10872216" cy="731520"/>
          </a:xfrm>
          <a:prstGeom prst="roundRect">
            <a:avLst>
              <a:gd name="adj" fmla="val 10000"/>
            </a:avLst>
          </a:prstGeom>
          <a:solidFill>
            <a:srgbClr val="0F172A"/>
          </a:solidFill>
          <a:ln w="12700">
            <a:solidFill>
              <a:srgbClr val="0F172A"/>
            </a:solidFill>
            <a:prstDash val="solid"/>
          </a:ln>
        </p:spPr>
      </p:sp>
      <p:sp>
        <p:nvSpPr>
          <p:cNvPr id="28" name="Text 26"/>
          <p:cNvSpPr/>
          <p:nvPr/>
        </p:nvSpPr>
        <p:spPr>
          <a:xfrm>
            <a:off x="978408" y="5349240"/>
            <a:ext cx="10232136" cy="731520"/>
          </a:xfrm>
          <a:prstGeom prst="rect">
            <a:avLst/>
          </a:prstGeom>
          <a:noFill/>
          <a:ln/>
        </p:spPr>
        <p:txBody>
          <a:bodyPr wrap="square" lIns="0" tIns="0" rIns="0" bIns="0" rtlCol="0" anchor="ctr"/>
          <a:lstStyle/>
          <a:p>
            <a:pPr indent="0" marL="0">
              <a:buNone/>
            </a:pPr>
            <a:r>
              <a:rPr lang="en-US" sz="1000" b="1" spc="120" kern="0" dirty="0">
                <a:solidFill>
                  <a:srgbClr val="5EEAD4"/>
                </a:solidFill>
                <a:latin typeface="Calibri" pitchFamily="34" charset="0"/>
                <a:ea typeface="Calibri" pitchFamily="34" charset="-122"/>
                <a:cs typeface="Calibri" pitchFamily="34" charset="-120"/>
              </a:rPr>
              <a:t>SUCCESS   </a:t>
            </a:r>
            <a:pPr indent="0" marL="0">
              <a:buNone/>
            </a:pPr>
            <a:r>
              <a:rPr lang="en-US" sz="1400" dirty="0">
                <a:solidFill>
                  <a:srgbClr val="FFFFFF"/>
                </a:solidFill>
                <a:latin typeface="Calibri" pitchFamily="34" charset="0"/>
                <a:ea typeface="Calibri" pitchFamily="34" charset="-122"/>
                <a:cs typeface="Calibri" pitchFamily="34" charset="-120"/>
              </a:rPr>
              <a:t>Duplicate query rate at zero. gpt-4o calls per R down by half, with recall unchanged on the 12-company set.</a:t>
            </a:r>
            <a:endParaRPr lang="en-US" sz="1000" dirty="0"/>
          </a:p>
        </p:txBody>
      </p:sp>
      <p:sp>
        <p:nvSpPr>
          <p:cNvPr id="29" name="Text 27"/>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30" name="Text 28"/>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5EEAD4"/>
                </a:solidFill>
                <a:latin typeface="Calibri" pitchFamily="34" charset="0"/>
                <a:ea typeface="Calibri" pitchFamily="34" charset="-122"/>
                <a:cs typeface="Calibri" pitchFamily="34" charset="-120"/>
              </a:rPr>
              <a:t>HONESTY BEFORE OPTIMISATION</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I am not claiming</a:t>
            </a:r>
            <a:endParaRPr lang="en-US" sz="3200" dirty="0"/>
          </a:p>
        </p:txBody>
      </p:sp>
      <p:sp>
        <p:nvSpPr>
          <p:cNvPr id="4" name="Shape 2"/>
          <p:cNvSpPr/>
          <p:nvPr/>
        </p:nvSpPr>
        <p:spPr>
          <a:xfrm>
            <a:off x="658368" y="2011680"/>
            <a:ext cx="3453384" cy="274320"/>
          </a:xfrm>
          <a:prstGeom prst="roundRect">
            <a:avLst>
              <a:gd name="adj" fmla="val 46667"/>
            </a:avLst>
          </a:prstGeom>
          <a:solidFill>
            <a:srgbClr val="7C2D12"/>
          </a:solidFill>
          <a:ln w="12700">
            <a:solidFill>
              <a:srgbClr val="9A3412"/>
            </a:solidFill>
            <a:prstDash val="solid"/>
          </a:ln>
        </p:spPr>
      </p:sp>
      <p:sp>
        <p:nvSpPr>
          <p:cNvPr id="5" name="Text 3"/>
          <p:cNvSpPr/>
          <p:nvPr/>
        </p:nvSpPr>
        <p:spPr>
          <a:xfrm>
            <a:off x="768096" y="2011680"/>
            <a:ext cx="323392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No carbon-neutral claim</a:t>
            </a:r>
            <a:endParaRPr lang="en-US" sz="950" dirty="0"/>
          </a:p>
        </p:txBody>
      </p:sp>
      <p:sp>
        <p:nvSpPr>
          <p:cNvPr id="6" name="Shape 4"/>
          <p:cNvSpPr/>
          <p:nvPr/>
        </p:nvSpPr>
        <p:spPr>
          <a:xfrm>
            <a:off x="4367784" y="2011680"/>
            <a:ext cx="3453384" cy="274320"/>
          </a:xfrm>
          <a:prstGeom prst="roundRect">
            <a:avLst>
              <a:gd name="adj" fmla="val 46667"/>
            </a:avLst>
          </a:prstGeom>
          <a:solidFill>
            <a:srgbClr val="7C2D12"/>
          </a:solidFill>
          <a:ln w="12700">
            <a:solidFill>
              <a:srgbClr val="9A3412"/>
            </a:solidFill>
            <a:prstDash val="solid"/>
          </a:ln>
        </p:spPr>
      </p:sp>
      <p:sp>
        <p:nvSpPr>
          <p:cNvPr id="7" name="Text 5"/>
          <p:cNvSpPr/>
          <p:nvPr/>
        </p:nvSpPr>
        <p:spPr>
          <a:xfrm>
            <a:off x="4477512" y="2011680"/>
            <a:ext cx="323392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No offsets</a:t>
            </a:r>
            <a:endParaRPr lang="en-US" sz="950" dirty="0"/>
          </a:p>
        </p:txBody>
      </p:sp>
      <p:sp>
        <p:nvSpPr>
          <p:cNvPr id="8" name="Shape 6"/>
          <p:cNvSpPr/>
          <p:nvPr/>
        </p:nvSpPr>
        <p:spPr>
          <a:xfrm>
            <a:off x="8077200" y="2011680"/>
            <a:ext cx="3453384" cy="274320"/>
          </a:xfrm>
          <a:prstGeom prst="roundRect">
            <a:avLst>
              <a:gd name="adj" fmla="val 46667"/>
            </a:avLst>
          </a:prstGeom>
          <a:solidFill>
            <a:srgbClr val="7C2D12"/>
          </a:solidFill>
          <a:ln w="12700">
            <a:solidFill>
              <a:srgbClr val="9A3412"/>
            </a:solidFill>
            <a:prstDash val="solid"/>
          </a:ln>
        </p:spPr>
      </p:sp>
      <p:sp>
        <p:nvSpPr>
          <p:cNvPr id="9" name="Text 7"/>
          <p:cNvSpPr/>
          <p:nvPr/>
        </p:nvSpPr>
        <p:spPr>
          <a:xfrm>
            <a:off x="8186928" y="2011680"/>
            <a:ext cx="3233928" cy="27432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No SCI figure</a:t>
            </a:r>
            <a:endParaRPr lang="en-US" sz="950" dirty="0"/>
          </a:p>
        </p:txBody>
      </p:sp>
      <p:sp>
        <p:nvSpPr>
          <p:cNvPr id="10" name="Text 8"/>
          <p:cNvSpPr/>
          <p:nvPr/>
        </p:nvSpPr>
        <p:spPr>
          <a:xfrm>
            <a:off x="658368" y="2542032"/>
            <a:ext cx="10872216" cy="292608"/>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No energy data and no grid intensity for the regions involved — so no SCI figure is computed here.</a:t>
            </a:r>
            <a:endParaRPr lang="en-US" sz="1400" dirty="0"/>
          </a:p>
        </p:txBody>
      </p:sp>
      <p:sp>
        <p:nvSpPr>
          <p:cNvPr id="11" name="Shape 9"/>
          <p:cNvSpPr/>
          <p:nvPr/>
        </p:nvSpPr>
        <p:spPr>
          <a:xfrm>
            <a:off x="658368" y="3063240"/>
            <a:ext cx="10872216" cy="0"/>
          </a:xfrm>
          <a:prstGeom prst="line">
            <a:avLst/>
          </a:prstGeom>
          <a:noFill/>
          <a:ln w="12700">
            <a:solidFill>
              <a:srgbClr val="1E293B"/>
            </a:solidFill>
            <a:prstDash val="solid"/>
          </a:ln>
        </p:spPr>
      </p:sp>
      <p:sp>
        <p:nvSpPr>
          <p:cNvPr id="12" name="Text 10"/>
          <p:cNvSpPr/>
          <p:nvPr/>
        </p:nvSpPr>
        <p:spPr>
          <a:xfrm>
            <a:off x="658368" y="3291840"/>
            <a:ext cx="10872216"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Cost and latency are proxies.</a:t>
            </a:r>
            <a:endParaRPr lang="en-US" sz="1500" dirty="0"/>
          </a:p>
        </p:txBody>
      </p:sp>
      <p:sp>
        <p:nvSpPr>
          <p:cNvPr id="13" name="Text 11"/>
          <p:cNvSpPr/>
          <p:nvPr/>
        </p:nvSpPr>
        <p:spPr>
          <a:xfrm>
            <a:off x="658368" y="3566160"/>
            <a:ext cx="10872216"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 cheaper scan is very probably a lower-energy scan — but I cannot prove the conversion without vendor telemetry.</a:t>
            </a:r>
            <a:endParaRPr lang="en-US" sz="1300" dirty="0"/>
          </a:p>
        </p:txBody>
      </p:sp>
      <p:sp>
        <p:nvSpPr>
          <p:cNvPr id="14" name="Text 12"/>
          <p:cNvSpPr/>
          <p:nvPr/>
        </p:nvSpPr>
        <p:spPr>
          <a:xfrm>
            <a:off x="658368" y="4005072"/>
            <a:ext cx="10872216"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Offsets would not change a number on these slides.</a:t>
            </a:r>
            <a:endParaRPr lang="en-US" sz="1500" dirty="0"/>
          </a:p>
        </p:txBody>
      </p:sp>
      <p:sp>
        <p:nvSpPr>
          <p:cNvPr id="15" name="Text 13"/>
          <p:cNvSpPr/>
          <p:nvPr/>
        </p:nvSpPr>
        <p:spPr>
          <a:xfrm>
            <a:off x="658368" y="4279392"/>
            <a:ext cx="10872216" cy="2743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Reducing calls per R would. That is the only lever this audit actually pulls.</a:t>
            </a:r>
            <a:endParaRPr lang="en-US" sz="1300" dirty="0"/>
          </a:p>
        </p:txBody>
      </p:sp>
      <p:sp>
        <p:nvSpPr>
          <p:cNvPr id="16" name="Shape 14"/>
          <p:cNvSpPr/>
          <p:nvPr/>
        </p:nvSpPr>
        <p:spPr>
          <a:xfrm>
            <a:off x="658368" y="4828032"/>
            <a:ext cx="10872216" cy="1005840"/>
          </a:xfrm>
          <a:prstGeom prst="roundRect">
            <a:avLst>
              <a:gd name="adj" fmla="val 7273"/>
            </a:avLst>
          </a:prstGeom>
          <a:solidFill>
            <a:srgbClr val="7C2D12"/>
          </a:solidFill>
          <a:ln w="12700">
            <a:solidFill>
              <a:srgbClr val="C2410C"/>
            </a:solidFill>
            <a:prstDash val="solid"/>
          </a:ln>
        </p:spPr>
      </p:sp>
      <p:sp>
        <p:nvSpPr>
          <p:cNvPr id="17" name="Text 15"/>
          <p:cNvSpPr/>
          <p:nvPr/>
        </p:nvSpPr>
        <p:spPr>
          <a:xfrm>
            <a:off x="978408" y="4983480"/>
            <a:ext cx="1828800" cy="219456"/>
          </a:xfrm>
          <a:prstGeom prst="rect">
            <a:avLst/>
          </a:prstGeom>
          <a:noFill/>
          <a:ln/>
        </p:spPr>
        <p:txBody>
          <a:bodyPr wrap="square" lIns="0" tIns="0" rIns="0" bIns="0" rtlCol="0" anchor="ctr"/>
          <a:lstStyle/>
          <a:p>
            <a:pPr indent="0" marL="0">
              <a:buNone/>
            </a:pPr>
            <a:r>
              <a:rPr lang="en-US" sz="1000" b="1" spc="140" kern="0" dirty="0">
                <a:solidFill>
                  <a:srgbClr val="FDBA74"/>
                </a:solidFill>
                <a:latin typeface="Calibri" pitchFamily="34" charset="0"/>
                <a:ea typeface="Calibri" pitchFamily="34" charset="-122"/>
                <a:cs typeface="Calibri" pitchFamily="34" charset="-120"/>
              </a:rPr>
              <a:t>TRADEOFF</a:t>
            </a:r>
            <a:endParaRPr lang="en-US" sz="1000" dirty="0"/>
          </a:p>
        </p:txBody>
      </p:sp>
      <p:sp>
        <p:nvSpPr>
          <p:cNvPr id="18" name="Text 16"/>
          <p:cNvSpPr/>
          <p:nvPr/>
        </p:nvSpPr>
        <p:spPr>
          <a:xfrm>
            <a:off x="978408" y="5230368"/>
            <a:ext cx="10232136" cy="5029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in-scan cache must not become cross-scan page retention. That was removed deliberately for data protection — and carbon does not outrank it.</a:t>
            </a:r>
            <a:endParaRPr lang="en-US" sz="1450" dirty="0"/>
          </a:p>
        </p:txBody>
      </p:sp>
      <p:sp>
        <p:nvSpPr>
          <p:cNvPr id="19" name="Text 17"/>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475569"/>
                </a:solidFill>
                <a:latin typeface="Calibri" pitchFamily="34" charset="0"/>
                <a:ea typeface="Calibri" pitchFamily="34" charset="-122"/>
                <a:cs typeface="Calibri" pitchFamily="34" charset="-120"/>
              </a:rPr>
              <a:t>PATH B  ·  CARBON RETROFIT AUDIT  ·  AI PRE-SCAN</a:t>
            </a:r>
            <a:endParaRPr lang="en-US" sz="850" dirty="0"/>
          </a:p>
        </p:txBody>
      </p:sp>
      <p:sp>
        <p:nvSpPr>
          <p:cNvPr id="20" name="Text 18"/>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475569"/>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lIns="0" tIns="0" rIns="0" bIns="0" rtlCol="0" anchor="ctr"/>
          <a:lstStyle/>
          <a:p>
            <a:pPr indent="0" marL="0">
              <a:buNone/>
            </a:pPr>
            <a:r>
              <a:rPr lang="en-US" sz="1100" b="1" spc="200" kern="0" dirty="0">
                <a:solidFill>
                  <a:srgbClr val="C2410C"/>
                </a:solidFill>
                <a:latin typeface="Calibri" pitchFamily="34" charset="0"/>
                <a:ea typeface="Calibri" pitchFamily="34" charset="-122"/>
                <a:cs typeface="Calibri" pitchFamily="34" charset="-120"/>
              </a:rPr>
              <a:t>STRETCH — A FALSIFIABLE PREDICTION</a:t>
            </a:r>
            <a:endParaRPr lang="en-US" sz="1100" dirty="0"/>
          </a:p>
        </p:txBody>
      </p:sp>
      <p:sp>
        <p:nvSpPr>
          <p:cNvPr id="3" name="Text 1"/>
          <p:cNvSpPr/>
          <p:nvPr/>
        </p:nvSpPr>
        <p:spPr>
          <a:xfrm>
            <a:off x="658368" y="694944"/>
            <a:ext cx="10872216" cy="749808"/>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If we cache and triage, what should move</a:t>
            </a:r>
            <a:endParaRPr lang="en-US" sz="3200" dirty="0"/>
          </a:p>
        </p:txBody>
      </p:sp>
      <p:sp>
        <p:nvSpPr>
          <p:cNvPr id="4" name="Shape 2"/>
          <p:cNvSpPr/>
          <p:nvPr/>
        </p:nvSpPr>
        <p:spPr>
          <a:xfrm>
            <a:off x="658368" y="2011680"/>
            <a:ext cx="5289804" cy="1600200"/>
          </a:xfrm>
          <a:prstGeom prst="roundRect">
            <a:avLst>
              <a:gd name="adj" fmla="val 4571"/>
            </a:avLst>
          </a:prstGeom>
          <a:solidFill>
            <a:srgbClr val="FFFFFF"/>
          </a:solidFill>
          <a:ln w="12700">
            <a:solidFill>
              <a:srgbClr val="E2E8F0"/>
            </a:solidFill>
            <a:prstDash val="solid"/>
          </a:ln>
        </p:spPr>
      </p:sp>
      <p:sp>
        <p:nvSpPr>
          <p:cNvPr id="5" name="Text 3"/>
          <p:cNvSpPr/>
          <p:nvPr/>
        </p:nvSpPr>
        <p:spPr>
          <a:xfrm>
            <a:off x="950976" y="2212848"/>
            <a:ext cx="731520" cy="310896"/>
          </a:xfrm>
          <a:prstGeom prst="rect">
            <a:avLst/>
          </a:prstGeom>
          <a:noFill/>
          <a:ln/>
        </p:spPr>
        <p:txBody>
          <a:bodyPr wrap="square" lIns="0" tIns="0" rIns="0" bIns="0" rtlCol="0" anchor="ctr"/>
          <a:lstStyle/>
          <a:p>
            <a:pPr indent="0" marL="0">
              <a:buNone/>
            </a:pPr>
            <a:r>
              <a:rPr lang="en-US" sz="1500" b="1" dirty="0">
                <a:solidFill>
                  <a:srgbClr val="C2410C"/>
                </a:solidFill>
                <a:latin typeface="Calibri" pitchFamily="34" charset="0"/>
                <a:ea typeface="Calibri" pitchFamily="34" charset="-122"/>
                <a:cs typeface="Calibri" pitchFamily="34" charset="-120"/>
              </a:rPr>
              <a:t>H1</a:t>
            </a:r>
            <a:endParaRPr lang="en-US" sz="1500" dirty="0"/>
          </a:p>
        </p:txBody>
      </p:sp>
      <p:sp>
        <p:nvSpPr>
          <p:cNvPr id="6" name="Text 4"/>
          <p:cNvSpPr/>
          <p:nvPr/>
        </p:nvSpPr>
        <p:spPr>
          <a:xfrm>
            <a:off x="1618488" y="2212848"/>
            <a:ext cx="4037076"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In-scan caching</a:t>
            </a:r>
            <a:endParaRPr lang="en-US" sz="1600" dirty="0"/>
          </a:p>
        </p:txBody>
      </p:sp>
      <p:sp>
        <p:nvSpPr>
          <p:cNvPr id="7" name="Text 5"/>
          <p:cNvSpPr/>
          <p:nvPr/>
        </p:nvSpPr>
        <p:spPr>
          <a:xfrm>
            <a:off x="950976" y="2615184"/>
            <a:ext cx="4704588" cy="77724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cuts search and fetch work per R by up to two thirds on any scan that retries</a:t>
            </a:r>
            <a:endParaRPr lang="en-US" sz="1300" dirty="0"/>
          </a:p>
        </p:txBody>
      </p:sp>
      <p:sp>
        <p:nvSpPr>
          <p:cNvPr id="8" name="Shape 6"/>
          <p:cNvSpPr/>
          <p:nvPr/>
        </p:nvSpPr>
        <p:spPr>
          <a:xfrm>
            <a:off x="6240780" y="2011680"/>
            <a:ext cx="5289804" cy="1600200"/>
          </a:xfrm>
          <a:prstGeom prst="roundRect">
            <a:avLst>
              <a:gd name="adj" fmla="val 4571"/>
            </a:avLst>
          </a:prstGeom>
          <a:solidFill>
            <a:srgbClr val="FFFFFF"/>
          </a:solidFill>
          <a:ln w="12700">
            <a:solidFill>
              <a:srgbClr val="E2E8F0"/>
            </a:solidFill>
            <a:prstDash val="solid"/>
          </a:ln>
        </p:spPr>
      </p:sp>
      <p:sp>
        <p:nvSpPr>
          <p:cNvPr id="9" name="Text 7"/>
          <p:cNvSpPr/>
          <p:nvPr/>
        </p:nvSpPr>
        <p:spPr>
          <a:xfrm>
            <a:off x="6533388" y="2212848"/>
            <a:ext cx="731520" cy="310896"/>
          </a:xfrm>
          <a:prstGeom prst="rect">
            <a:avLst/>
          </a:prstGeom>
          <a:noFill/>
          <a:ln/>
        </p:spPr>
        <p:txBody>
          <a:bodyPr wrap="square" lIns="0" tIns="0" rIns="0" bIns="0" rtlCol="0" anchor="ctr"/>
          <a:lstStyle/>
          <a:p>
            <a:pPr indent="0" marL="0">
              <a:buNone/>
            </a:pPr>
            <a:r>
              <a:rPr lang="en-US" sz="1500" b="1" dirty="0">
                <a:solidFill>
                  <a:srgbClr val="C2410C"/>
                </a:solidFill>
                <a:latin typeface="Calibri" pitchFamily="34" charset="0"/>
                <a:ea typeface="Calibri" pitchFamily="34" charset="-122"/>
                <a:cs typeface="Calibri" pitchFamily="34" charset="-120"/>
              </a:rPr>
              <a:t>H2</a:t>
            </a:r>
            <a:endParaRPr lang="en-US" sz="1500" dirty="0"/>
          </a:p>
        </p:txBody>
      </p:sp>
      <p:sp>
        <p:nvSpPr>
          <p:cNvPr id="10" name="Text 8"/>
          <p:cNvSpPr/>
          <p:nvPr/>
        </p:nvSpPr>
        <p:spPr>
          <a:xfrm>
            <a:off x="7200900" y="2212848"/>
            <a:ext cx="4037076"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Triage</a:t>
            </a:r>
            <a:endParaRPr lang="en-US" sz="1600" dirty="0"/>
          </a:p>
        </p:txBody>
      </p:sp>
      <p:sp>
        <p:nvSpPr>
          <p:cNvPr id="11" name="Text 9"/>
          <p:cNvSpPr/>
          <p:nvPr/>
        </p:nvSpPr>
        <p:spPr>
          <a:xfrm>
            <a:off x="6533388" y="2615184"/>
            <a:ext cx="4704588" cy="77724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cuts gpt-4o calls per R by roughly half — most fetched pages never yield a finding</a:t>
            </a:r>
            <a:endParaRPr lang="en-US" sz="1300" dirty="0"/>
          </a:p>
        </p:txBody>
      </p:sp>
      <p:sp>
        <p:nvSpPr>
          <p:cNvPr id="12" name="Shape 10"/>
          <p:cNvSpPr/>
          <p:nvPr/>
        </p:nvSpPr>
        <p:spPr>
          <a:xfrm>
            <a:off x="658368" y="3840480"/>
            <a:ext cx="10872216" cy="960120"/>
          </a:xfrm>
          <a:prstGeom prst="roundRect">
            <a:avLst>
              <a:gd name="adj" fmla="val 7619"/>
            </a:avLst>
          </a:prstGeom>
          <a:solidFill>
            <a:srgbClr val="F0FDFA"/>
          </a:solidFill>
          <a:ln w="12700">
            <a:solidFill>
              <a:srgbClr val="5EEAD4"/>
            </a:solidFill>
            <a:prstDash val="solid"/>
          </a:ln>
        </p:spPr>
      </p:sp>
      <p:sp>
        <p:nvSpPr>
          <p:cNvPr id="13" name="Text 11"/>
          <p:cNvSpPr/>
          <p:nvPr/>
        </p:nvSpPr>
        <p:spPr>
          <a:xfrm>
            <a:off x="978408" y="4005072"/>
            <a:ext cx="1828800" cy="219456"/>
          </a:xfrm>
          <a:prstGeom prst="rect">
            <a:avLst/>
          </a:prstGeom>
          <a:noFill/>
          <a:ln/>
        </p:spPr>
        <p:txBody>
          <a:bodyPr wrap="square" lIns="0" tIns="0" rIns="0" bIns="0" rtlCol="0" anchor="ctr"/>
          <a:lstStyle/>
          <a:p>
            <a:pPr indent="0" marL="0">
              <a:buNone/>
            </a:pPr>
            <a:r>
              <a:rPr lang="en-US" sz="1000" b="1" spc="140" kern="0" dirty="0">
                <a:solidFill>
                  <a:srgbClr val="0F766E"/>
                </a:solidFill>
                <a:latin typeface="Calibri" pitchFamily="34" charset="0"/>
                <a:ea typeface="Calibri" pitchFamily="34" charset="-122"/>
                <a:cs typeface="Calibri" pitchFamily="34" charset="-120"/>
              </a:rPr>
              <a:t>THE TEST</a:t>
            </a:r>
            <a:endParaRPr lang="en-US" sz="1000" dirty="0"/>
          </a:p>
        </p:txBody>
      </p:sp>
      <p:sp>
        <p:nvSpPr>
          <p:cNvPr id="14" name="Text 12"/>
          <p:cNvSpPr/>
          <p:nvPr/>
        </p:nvSpPr>
        <p:spPr>
          <a:xfrm>
            <a:off x="978408" y="4251960"/>
            <a:ext cx="10232136" cy="45720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Recall and over-claim rate on the 12-company ground truth must not move outside their existing run-to-run variance.</a:t>
            </a:r>
            <a:endParaRPr lang="en-US" sz="1500" dirty="0"/>
          </a:p>
        </p:txBody>
      </p:sp>
      <p:sp>
        <p:nvSpPr>
          <p:cNvPr id="15" name="Shape 13"/>
          <p:cNvSpPr/>
          <p:nvPr/>
        </p:nvSpPr>
        <p:spPr>
          <a:xfrm>
            <a:off x="658368" y="5029200"/>
            <a:ext cx="10872216" cy="822960"/>
          </a:xfrm>
          <a:prstGeom prst="roundRect">
            <a:avLst>
              <a:gd name="adj" fmla="val 8889"/>
            </a:avLst>
          </a:prstGeom>
          <a:solidFill>
            <a:srgbClr val="0F172A"/>
          </a:solidFill>
          <a:ln w="12700">
            <a:solidFill>
              <a:srgbClr val="0F172A"/>
            </a:solidFill>
            <a:prstDash val="solid"/>
          </a:ln>
        </p:spPr>
      </p:sp>
      <p:sp>
        <p:nvSpPr>
          <p:cNvPr id="16" name="Text 14"/>
          <p:cNvSpPr/>
          <p:nvPr/>
        </p:nvSpPr>
        <p:spPr>
          <a:xfrm>
            <a:off x="978408" y="5029200"/>
            <a:ext cx="10232136" cy="8229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If recall drops outside that band, the triage change is wrong and gets reverted — decided before the change, not after the result.</a:t>
            </a:r>
            <a:endParaRPr lang="en-US" sz="1450" dirty="0"/>
          </a:p>
        </p:txBody>
      </p:sp>
      <p:sp>
        <p:nvSpPr>
          <p:cNvPr id="17" name="Text 15"/>
          <p:cNvSpPr/>
          <p:nvPr/>
        </p:nvSpPr>
        <p:spPr>
          <a:xfrm>
            <a:off x="658368" y="6382512"/>
            <a:ext cx="7315200" cy="201168"/>
          </a:xfrm>
          <a:prstGeom prst="rect">
            <a:avLst/>
          </a:prstGeom>
          <a:noFill/>
          <a:ln/>
        </p:spPr>
        <p:txBody>
          <a:bodyPr wrap="square" lIns="0" tIns="0" rIns="0" bIns="0" rtlCol="0" anchor="ctr"/>
          <a:lstStyle/>
          <a:p>
            <a:pPr indent="0" marL="0">
              <a:buNone/>
            </a:pPr>
            <a:r>
              <a:rPr lang="en-US" sz="850" b="1" spc="140" kern="0" dirty="0">
                <a:solidFill>
                  <a:srgbClr val="94A3B8"/>
                </a:solidFill>
                <a:latin typeface="Calibri" pitchFamily="34" charset="0"/>
                <a:ea typeface="Calibri" pitchFamily="34" charset="-122"/>
                <a:cs typeface="Calibri" pitchFamily="34" charset="-120"/>
              </a:rPr>
              <a:t>PATH B  ·  CARBON RETROFIT AUDIT  ·  AI PRE-SCAN</a:t>
            </a:r>
            <a:endParaRPr lang="en-US" sz="850" dirty="0"/>
          </a:p>
        </p:txBody>
      </p:sp>
      <p:sp>
        <p:nvSpPr>
          <p:cNvPr id="18" name="Text 16"/>
          <p:cNvSpPr/>
          <p:nvPr/>
        </p:nvSpPr>
        <p:spPr>
          <a:xfrm>
            <a:off x="11155680" y="6382512"/>
            <a:ext cx="411480" cy="201168"/>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Defend your stack's carbon story</dc:title>
  <dc:subject>PptxGenJS Presentation</dc:subject>
  <dc:creator>Ugo Ahukannah</dc:creator>
  <cp:lastModifiedBy>Ugo Ahukannah</cp:lastModifiedBy>
  <cp:revision>1</cp:revision>
  <dcterms:created xsi:type="dcterms:W3CDTF">2026-08-20T09:50:23Z</dcterms:created>
  <dcterms:modified xsi:type="dcterms:W3CDTF">2026-08-20T09:50:23Z</dcterms:modified>
</cp:coreProperties>
</file>